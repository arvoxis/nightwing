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71" r:id="rId22"/>
    <p:sldId id="270" r:id="rId21"/>
    <p:sldId id="269" r:id="rId20"/>
    <p:sldId id="268" r:id="rId19"/>
    <p:sldId id="267" r:id="rId18"/>
    <p:sldId id="266" r:id="rId17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il4hUTY44DsoPwh4YsnihwaC9l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customschemas.google.com/relationships/presentationmetadata" Target="metadata"/><Relationship Id="rId17" Type="http://schemas.openxmlformats.org/officeDocument/2006/relationships/slide" Target="slides/slide10.xml"/><Relationship Id="rId18" Type="http://schemas.openxmlformats.org/officeDocument/2006/relationships/slide" Target="slides/slide9.xml"/><Relationship Id="rId19" Type="http://schemas.openxmlformats.org/officeDocument/2006/relationships/slide" Target="slides/slide8.xml"/><Relationship Id="rId20" Type="http://schemas.openxmlformats.org/officeDocument/2006/relationships/slide" Target="slides/slide7.xml"/><Relationship Id="rId21" Type="http://schemas.openxmlformats.org/officeDocument/2006/relationships/slide" Target="slides/slide6.xml"/><Relationship Id="rId2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One line: a leaderless drone swarm that finds victims cameras cannot see, by cooperatively locating their phone's radio signal.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Three failures. The third is the one nobody talks about: detection thresholds force a choice between missing victims and flooding responders.</a:t>
            </a:r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Lead with the hero. The judge decides whether they care in 30 seconds: a hidden phone found by drones that cannot see it.</a:t>
            </a:r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laptop simulates and draws but never chooses a goal. Every goal on screen was decided on a separate microcontroller and agreed by radio.</a:t>
            </a:r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Demo beats: self-organise, re-observation confirm, Hive-Mind dismissal, yank a drone's power, then the hidden phone. Never cut the power-yank.</a:t>
            </a:r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cost argument lands hard with judges: the intelligence is a $3 chip, not a datacentre.</a:t>
            </a:r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Challenge 1 is the strongest story: we found a silent architectural blocker in hour one because we verified instead of assuming.</a:t>
            </a:r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Close the future slide on the vision line — it is the most quotable sentence in the deck.</a:t>
            </a:r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End on the tagline. Say it slowly and stop talking.</a:t>
            </a:r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Thank the mentors by name.</a:t>
            </a:r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Software is feature-complete at module level; integration is the remaining work. Be precise about that distinction.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data plus same rule equals same winner, computed independently on every chip. There is no referee to kill.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intellectual spine. It lets us run the detector at a low threshold without flooding responders with false alarms.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measured numbers from our own bench, not datasheet figures. Loss is computed from sequence-number gaps.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Gradient-seeking, not trilateration. It never needs absolute distance — only 'stronger here or there', which is what survives rubble.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trade-off before the judge finds it: this does not scale to 1000 drones. For six drones with no infrastructure it is the only thing that works.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5.jpg"/><Relationship Id="rId8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5.jpg"/><Relationship Id="rId8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5.jpg"/><Relationship Id="rId8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2.jpg"/><Relationship Id="rId8" Type="http://schemas.openxmlformats.org/officeDocument/2006/relationships/image" Target="../media/image5.jpg"/><Relationship Id="rId9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2.jpg"/><Relationship Id="rId8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2.jpg"/><Relationship Id="rId8" Type="http://schemas.openxmlformats.org/officeDocument/2006/relationships/image" Target="../media/image5.jpg"/><Relationship Id="rId9" Type="http://schemas.openxmlformats.org/officeDocument/2006/relationships/notesSlide" Target="../notesSlides/notesSlide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2.jpg"/><Relationship Id="rId8" Type="http://schemas.openxmlformats.org/officeDocument/2006/relationships/image" Target="../media/image5.jpg"/><Relationship Id="rId9" Type="http://schemas.openxmlformats.org/officeDocument/2006/relationships/notesSlide" Target="../notesSlides/notesSlide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2.jpg"/><Relationship Id="rId8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2.jpg"/><Relationship Id="rId8" Type="http://schemas.openxmlformats.org/officeDocument/2006/relationships/image" Target="../media/image5.jpg"/><Relationship Id="rId9" Type="http://schemas.openxmlformats.org/officeDocument/2006/relationships/notesSlide" Target="../notesSlides/notesSlide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2.jpg"/><Relationship Id="rId8" Type="http://schemas.openxmlformats.org/officeDocument/2006/relationships/image" Target="../media/image5.jpg"/><Relationship Id="rId9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5.jpg"/><Relationship Id="rId8" Type="http://schemas.openxmlformats.org/officeDocument/2006/relationships/image" Target="../media/image2.jpg"/><Relationship Id="rId9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5.jpg"/><Relationship Id="rId8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5.jpg"/><Relationship Id="rId8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5.jpg"/><Relationship Id="rId8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5.jpg"/><Relationship Id="rId8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5.jpg"/><Relationship Id="rId8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85" name="Google Shape;85;p1"/>
            <p:cNvSpPr/>
            <p:nvPr/>
          </p:nvSpPr>
          <p:spPr>
            <a:xfrm>
              <a:off x="11416130" y="0"/>
              <a:ext cx="2312492" cy="2312492"/>
            </a:xfrm>
            <a:custGeom>
              <a:rect b="b" l="l" r="r" t="t"/>
              <a:pathLst>
                <a:path extrusionOk="0" h="2312492" w="2312492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6" name="Google Shape;86;p1"/>
            <p:cNvSpPr/>
            <p:nvPr/>
          </p:nvSpPr>
          <p:spPr>
            <a:xfrm>
              <a:off x="9371173" y="547849"/>
              <a:ext cx="1754643" cy="1414221"/>
            </a:xfrm>
            <a:custGeom>
              <a:rect b="b" l="l" r="r" t="t"/>
              <a:pathLst>
                <a:path extrusionOk="0" h="1414221" w="1754643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7" name="Google Shape;87;p1"/>
            <p:cNvSpPr/>
            <p:nvPr/>
          </p:nvSpPr>
          <p:spPr>
            <a:xfrm>
              <a:off x="0" y="604703"/>
              <a:ext cx="3006153" cy="1300514"/>
            </a:xfrm>
            <a:custGeom>
              <a:rect b="b" l="l" r="r" t="t"/>
              <a:pathLst>
                <a:path extrusionOk="0" h="1300514" w="3006153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8" name="Google Shape;88;p1"/>
            <p:cNvSpPr/>
            <p:nvPr/>
          </p:nvSpPr>
          <p:spPr>
            <a:xfrm>
              <a:off x="3823451" y="643512"/>
              <a:ext cx="4906265" cy="1318559"/>
            </a:xfrm>
            <a:custGeom>
              <a:rect b="b" l="l" r="r" t="t"/>
              <a:pathLst>
                <a:path extrusionOk="0" h="1318559" w="4906265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89" name="Google Shape;89;p1"/>
          <p:cNvSpPr/>
          <p:nvPr/>
        </p:nvSpPr>
        <p:spPr>
          <a:xfrm>
            <a:off x="-32901" y="1051100"/>
            <a:ext cx="18323704" cy="8777017"/>
          </a:xfrm>
          <a:custGeom>
            <a:rect b="b" l="l" r="r" t="t"/>
            <a:pathLst>
              <a:path extrusionOk="0" h="8777017" w="18323704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b="-40752" l="-2658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3511563" y="9826112"/>
            <a:ext cx="11344944" cy="460888"/>
          </a:xfrm>
          <a:custGeom>
            <a:rect b="b" l="l" r="r" t="t"/>
            <a:pathLst>
              <a:path extrusionOk="0" h="460888" w="11344944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 txBox="1"/>
          <p:nvPr/>
        </p:nvSpPr>
        <p:spPr>
          <a:xfrm>
            <a:off x="4179704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888415" y="221641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KHOJ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86241" y="3150000"/>
            <a:ext cx="69000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3400" b="1" i="0">
                <a:solidFill>
                  <a:srgbClr val="2E3192"/>
                </a:solidFill>
                <a:latin typeface="Calibri"/>
              </a:rPr>
              <a:t>A leaderless rescue swarm
that finds people it cannot see.</a:t>
            </a:r>
          </a:p>
          <a:p>
            <a:pPr>
              <a:spcAft>
                <a:spcPts val="0"/>
              </a:spcAft>
            </a:pPr>
            <a:r>
              <a:rPr sz="2100" b="0" i="1">
                <a:solidFill>
                  <a:srgbClr val="5A6B7C"/>
                </a:solidFill>
                <a:latin typeface="Calibri"/>
              </a:rPr>
              <a:t>“Other swarms search together.
KHOJ finds the invisible.”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6241" y="6450000"/>
            <a:ext cx="6900000" cy="2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0E8FA0"/>
                </a:solidFill>
                <a:latin typeface="Calibri"/>
              </a:rPr>
              <a:t>TRACK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1B2A3A"/>
                </a:solidFill>
                <a:latin typeface="Calibri"/>
              </a:rPr>
              <a:t>[YOUR TRACK NAME]</a:t>
            </a: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0E8FA0"/>
                </a:solidFill>
                <a:latin typeface="Calibri"/>
              </a:rPr>
              <a:t>PROBLEM STATEMENT</a:t>
            </a:r>
          </a:p>
          <a:p>
            <a:pPr>
              <a:spcAft>
                <a:spcPts val="400"/>
              </a:spcAft>
            </a:pPr>
            <a:r>
              <a:rPr sz="1900" b="1" i="0">
                <a:solidFill>
                  <a:srgbClr val="1B2A3A"/>
                </a:solidFill>
                <a:latin typeface="Calibri"/>
              </a:rPr>
              <a:t>DIOT-01 — Autonomous Drone Swarm
for Search and Rescue Operations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5A6B7C"/>
                </a:solidFill>
                <a:latin typeface="Calibri"/>
              </a:rPr>
              <a:t>Aligned SDGs 9 · 11 · 16</a:t>
            </a:r>
          </a:p>
          <a:p>
            <a:pPr>
              <a:spcAft>
                <a:spcPts val="400"/>
              </a:spcAft>
            </a:pPr>
            <a:r>
              <a:rPr sz="2000" b="1" i="0">
                <a:solidFill>
                  <a:srgbClr val="1B2A3A"/>
                </a:solidFill>
                <a:latin typeface="Calibri"/>
              </a:rPr>
              <a:t>TEAM  [TEAM NAME]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5A6B7C"/>
                </a:solidFill>
                <a:latin typeface="Calibri"/>
              </a:rPr>
              <a:t>[MEMBER 1 — REG NO.]   ·   [MEMBER 2 — REG NO.]
[MEMBER 3 — REG NO.]   ·   [MEMBER 4 — REG NO.]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000000" y="3150000"/>
            <a:ext cx="9400000" cy="2036666"/>
          </a:xfrm>
          <a:prstGeom prst="roundRect">
            <a:avLst>
              <a:gd name="adj" fmla="val 8000"/>
            </a:avLst>
          </a:prstGeom>
          <a:solidFill>
            <a:srgbClr val="E4F3F5"/>
          </a:solidFill>
          <a:ln w="19050">
            <a:solidFill>
              <a:srgbClr val="0E8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140000"/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0E8FA0"/>
                </a:solidFill>
                <a:latin typeface="Calibri"/>
              </a:rPr>
              <a:t>0.0%</a:t>
            </a:r>
            <a:r>
              <a:rPr sz="1900" b="1">
                <a:solidFill>
                  <a:srgbClr val="1B2A3A"/>
                </a:solidFill>
                <a:latin typeface="Calibri"/>
              </a:rPr>
              <a:t>   mesh packet loss</a:t>
            </a:r>
          </a:p>
          <a:p>
            <a:pPr algn="l"/>
            <a:r>
              <a:rPr sz="1500">
                <a:solidFill>
                  <a:srgbClr val="5A6B7C"/>
                </a:solidFill>
                <a:latin typeface="Calibri"/>
              </a:rPr>
              <a:t>Measured across five ESP32 boards on real hardware.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000000" y="5376666"/>
            <a:ext cx="9400000" cy="2036666"/>
          </a:xfrm>
          <a:prstGeom prst="roundRect">
            <a:avLst>
              <a:gd name="adj" fmla="val 8000"/>
            </a:avLst>
          </a:prstGeom>
          <a:solidFill>
            <a:srgbClr val="F9E7E5"/>
          </a:solidFill>
          <a:ln w="19050">
            <a:solidFill>
              <a:srgbClr val="B84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140000"/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B8433A"/>
                </a:solidFill>
                <a:latin typeface="Calibri"/>
              </a:rPr>
              <a:t>&lt; 2 s</a:t>
            </a:r>
            <a:r>
              <a:rPr sz="1900" b="1">
                <a:solidFill>
                  <a:srgbClr val="1B2A3A"/>
                </a:solidFill>
                <a:latin typeface="Calibri"/>
              </a:rPr>
              <a:t>   to detect a dead drone</a:t>
            </a:r>
          </a:p>
          <a:p>
            <a:pPr algn="l"/>
            <a:r>
              <a:rPr sz="1500">
                <a:solidFill>
                  <a:srgbClr val="5A6B7C"/>
                </a:solidFill>
                <a:latin typeface="Calibri"/>
              </a:rPr>
              <a:t>Every surviving board concludes it independently — no leader.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000000" y="7603332"/>
            <a:ext cx="9400000" cy="2036666"/>
          </a:xfrm>
          <a:prstGeom prst="roundRect">
            <a:avLst>
              <a:gd name="adj" fmla="val 8000"/>
            </a:avLst>
          </a:prstGeom>
          <a:solidFill>
            <a:srgbClr val="E4F1EA"/>
          </a:solidFill>
          <a:ln w="1905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140000"/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2E7D5B"/>
                </a:solidFill>
                <a:latin typeface="Calibri"/>
              </a:rPr>
              <a:t>4-5 / 5</a:t>
            </a:r>
            <a:r>
              <a:rPr sz="1900" b="1">
                <a:solidFill>
                  <a:srgbClr val="1B2A3A"/>
                </a:solidFill>
                <a:latin typeface="Calibri"/>
              </a:rPr>
              <a:t>   survivors found in simulation</a:t>
            </a:r>
          </a:p>
          <a:p>
            <a:pPr algn="l"/>
            <a:r>
              <a:rPr sz="1500">
                <a:solidFill>
                  <a:srgbClr val="5A6B7C"/>
                </a:solidFill>
                <a:latin typeface="Calibri"/>
              </a:rPr>
              <a:t>A camera-only baseline manages 3-4, and never the hidden 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"/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102" name="Google Shape;102;p2"/>
            <p:cNvSpPr/>
            <p:nvPr/>
          </p:nvSpPr>
          <p:spPr>
            <a:xfrm>
              <a:off x="11416130" y="0"/>
              <a:ext cx="2312492" cy="2312492"/>
            </a:xfrm>
            <a:custGeom>
              <a:rect b="b" l="l" r="r" t="t"/>
              <a:pathLst>
                <a:path extrusionOk="0" h="2312492" w="2312492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3" name="Google Shape;103;p2"/>
            <p:cNvSpPr/>
            <p:nvPr/>
          </p:nvSpPr>
          <p:spPr>
            <a:xfrm>
              <a:off x="9371173" y="547849"/>
              <a:ext cx="1754643" cy="1414221"/>
            </a:xfrm>
            <a:custGeom>
              <a:rect b="b" l="l" r="r" t="t"/>
              <a:pathLst>
                <a:path extrusionOk="0" h="1414221" w="1754643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4" name="Google Shape;104;p2"/>
            <p:cNvSpPr/>
            <p:nvPr/>
          </p:nvSpPr>
          <p:spPr>
            <a:xfrm>
              <a:off x="0" y="604703"/>
              <a:ext cx="3006153" cy="1300514"/>
            </a:xfrm>
            <a:custGeom>
              <a:rect b="b" l="l" r="r" t="t"/>
              <a:pathLst>
                <a:path extrusionOk="0" h="1300514" w="3006153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5" name="Google Shape;105;p2"/>
            <p:cNvSpPr/>
            <p:nvPr/>
          </p:nvSpPr>
          <p:spPr>
            <a:xfrm>
              <a:off x="3823451" y="643512"/>
              <a:ext cx="4906265" cy="1318559"/>
            </a:xfrm>
            <a:custGeom>
              <a:rect b="b" l="l" r="r" t="t"/>
              <a:pathLst>
                <a:path extrusionOk="0" h="1318559" w="4906265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06" name="Google Shape;106;p2"/>
          <p:cNvSpPr/>
          <p:nvPr/>
        </p:nvSpPr>
        <p:spPr>
          <a:xfrm>
            <a:off x="-32901" y="1051100"/>
            <a:ext cx="18323704" cy="8777017"/>
          </a:xfrm>
          <a:custGeom>
            <a:rect b="b" l="l" r="r" t="t"/>
            <a:pathLst>
              <a:path extrusionOk="0" h="8777017" w="18323704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b="-40752" l="-2658" r="0" t="0"/>
            </a:stretch>
          </a:blipFill>
          <a:ln>
            <a:noFill/>
          </a:ln>
        </p:spPr>
      </p:sp>
      <p:sp>
        <p:nvSpPr>
          <p:cNvPr id="107" name="Google Shape;107;p2"/>
          <p:cNvSpPr/>
          <p:nvPr/>
        </p:nvSpPr>
        <p:spPr>
          <a:xfrm>
            <a:off x="3511563" y="9826112"/>
            <a:ext cx="11344944" cy="460888"/>
          </a:xfrm>
          <a:custGeom>
            <a:rect b="b" l="l" r="r" t="t"/>
            <a:pathLst>
              <a:path extrusionOk="0" h="460888" w="11344944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2"/>
          <p:cNvSpPr txBox="1"/>
          <p:nvPr/>
        </p:nvSpPr>
        <p:spPr>
          <a:xfrm>
            <a:off x="4165933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888415" y="221641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886241" y="3350000"/>
            <a:ext cx="6900000" cy="5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1B2A3A"/>
                </a:solidFill>
                <a:latin typeface="Calibri"/>
              </a:rPr>
              <a:t>When a building collapses, the victims who most need finding are exactly the ones nobody can see — buried under slab, trapped in voids, unconscious and silent.</a:t>
            </a:r>
          </a:p>
          <a:p>
            <a:pPr>
              <a:spcAft>
                <a:spcPts val="2000"/>
              </a:spcAft>
            </a:pPr>
            <a:r>
              <a:rPr sz="2000" b="1" i="0">
                <a:solidFill>
                  <a:srgbClr val="2E3192"/>
                </a:solidFill>
                <a:latin typeface="Calibri"/>
              </a:rPr>
              <a:t>Search-and-rescue drones today are camera-based. If the camera cannot see you, the drone cannot find you.</a:t>
            </a:r>
          </a:p>
          <a:p>
            <a:pPr>
              <a:spcAft>
                <a:spcPts val="1000"/>
              </a:spcAft>
            </a:pPr>
            <a:r>
              <a:rPr sz="2200" b="1" i="0">
                <a:solidFill>
                  <a:srgbClr val="2E3192"/>
                </a:solidFill>
                <a:latin typeface="Calibri"/>
              </a:rPr>
              <a:t>Why it matters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800" b="0" i="0">
                <a:solidFill>
                  <a:srgbClr val="1B2A3A"/>
                </a:solidFill>
                <a:latin typeface="Calibri"/>
              </a:rPr>
              <a:t>The golden 72 hours — survival falls steeply with every hour under rubble. Speed is the whole outcome.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800" b="0" i="0">
                <a:solidFill>
                  <a:srgbClr val="1B2A3A"/>
                </a:solidFill>
                <a:latin typeface="Calibri"/>
              </a:rPr>
              <a:t>Disaster zones have no infrastructure by definition: no network, no guaranteed GPS, no reliable power.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800" b="0" i="0">
                <a:solidFill>
                  <a:srgbClr val="1B2A3A"/>
                </a:solidFill>
                <a:latin typeface="Calibri"/>
              </a:rPr>
              <a:t>A false positive costs a rescue team three minutes. A false negative costs a life. No current system treats those differently.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000000" y="3350000"/>
            <a:ext cx="9400000" cy="1970000"/>
          </a:xfrm>
          <a:prstGeom prst="roundRect">
            <a:avLst>
              <a:gd name="adj" fmla="val 8000"/>
            </a:avLst>
          </a:prstGeom>
          <a:solidFill>
            <a:srgbClr val="F9E7E5"/>
          </a:solidFill>
          <a:ln w="19050">
            <a:solidFill>
              <a:srgbClr val="B84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140000"/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B8433A"/>
                </a:solidFill>
                <a:latin typeface="Calibri"/>
              </a:rPr>
              <a:t>01</a:t>
            </a:r>
            <a:r>
              <a:rPr sz="1900" b="1">
                <a:solidFill>
                  <a:srgbClr val="1B2A3A"/>
                </a:solidFill>
                <a:latin typeface="Calibri"/>
              </a:rPr>
              <a:t>   Blind to the buried</a:t>
            </a:r>
          </a:p>
          <a:p>
            <a:pPr algn="l"/>
            <a:r>
              <a:rPr sz="1500">
                <a:solidFill>
                  <a:srgbClr val="5A6B7C"/>
                </a:solidFill>
                <a:latin typeface="Calibri"/>
              </a:rPr>
              <a:t>Aerial cameras find only visible victims. Occluded and half-buried survivors are invisible to the entire fleet.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000000" y="5510000"/>
            <a:ext cx="9400000" cy="1970000"/>
          </a:xfrm>
          <a:prstGeom prst="roundRect">
            <a:avLst>
              <a:gd name="adj" fmla="val 8000"/>
            </a:avLst>
          </a:prstGeom>
          <a:solidFill>
            <a:srgbClr val="FCF1E2"/>
          </a:solidFill>
          <a:ln w="19050">
            <a:solidFill>
              <a:srgbClr val="D988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140000"/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D98829"/>
                </a:solidFill>
                <a:latin typeface="Calibri"/>
              </a:rPr>
              <a:t>02</a:t>
            </a:r>
            <a:r>
              <a:rPr sz="1900" b="1">
                <a:solidFill>
                  <a:srgbClr val="1B2A3A"/>
                </a:solidFill>
                <a:latin typeface="Calibri"/>
              </a:rPr>
              <a:t>   Fragile coordination</a:t>
            </a:r>
          </a:p>
          <a:p>
            <a:pPr algn="l"/>
            <a:r>
              <a:rPr sz="1500">
                <a:solidFill>
                  <a:srgbClr val="5A6B7C"/>
                </a:solidFill>
                <a:latin typeface="Calibri"/>
              </a:rPr>
              <a:t>One ground station computes every trajectory and needs RTK-GPS plus a live uplink — the first things a disaster destroys.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000000" y="7670000"/>
            <a:ext cx="9400000" cy="1970000"/>
          </a:xfrm>
          <a:prstGeom prst="roundRect">
            <a:avLst>
              <a:gd name="adj" fmla="val 8000"/>
            </a:avLst>
          </a:prstGeom>
          <a:solidFill>
            <a:srgbClr val="ECEEF7"/>
          </a:solidFill>
          <a:ln w="19050">
            <a:solidFill>
              <a:srgbClr val="2E31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140000"/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2E3192"/>
                </a:solidFill>
                <a:latin typeface="Calibri"/>
              </a:rPr>
              <a:t>03</a:t>
            </a:r>
            <a:r>
              <a:rPr sz="1900" b="1">
                <a:solidFill>
                  <a:srgbClr val="1B2A3A"/>
                </a:solidFill>
                <a:latin typeface="Calibri"/>
              </a:rPr>
              <a:t>   The threshold trap</a:t>
            </a:r>
          </a:p>
          <a:p>
            <a:pPr algn="l"/>
            <a:r>
              <a:rPr sz="1500">
                <a:solidFill>
                  <a:srgbClr val="5A6B7C"/>
                </a:solidFill>
                <a:latin typeface="Calibri"/>
              </a:rPr>
              <a:t>Lower the detector threshold and responders drown in false alarms. Keep it high and half-buried people are discarded as noise.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3"/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118" name="Google Shape;118;p3"/>
            <p:cNvSpPr/>
            <p:nvPr/>
          </p:nvSpPr>
          <p:spPr>
            <a:xfrm>
              <a:off x="11416130" y="0"/>
              <a:ext cx="2312492" cy="2312492"/>
            </a:xfrm>
            <a:custGeom>
              <a:rect b="b" l="l" r="r" t="t"/>
              <a:pathLst>
                <a:path extrusionOk="0" h="2312492" w="2312492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9" name="Google Shape;119;p3"/>
            <p:cNvSpPr/>
            <p:nvPr/>
          </p:nvSpPr>
          <p:spPr>
            <a:xfrm>
              <a:off x="9371173" y="547849"/>
              <a:ext cx="1754643" cy="1414221"/>
            </a:xfrm>
            <a:custGeom>
              <a:rect b="b" l="l" r="r" t="t"/>
              <a:pathLst>
                <a:path extrusionOk="0" h="1414221" w="1754643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0" name="Google Shape;120;p3"/>
            <p:cNvSpPr/>
            <p:nvPr/>
          </p:nvSpPr>
          <p:spPr>
            <a:xfrm>
              <a:off x="0" y="604703"/>
              <a:ext cx="3006153" cy="1300514"/>
            </a:xfrm>
            <a:custGeom>
              <a:rect b="b" l="l" r="r" t="t"/>
              <a:pathLst>
                <a:path extrusionOk="0" h="1300514" w="3006153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1" name="Google Shape;121;p3"/>
            <p:cNvSpPr/>
            <p:nvPr/>
          </p:nvSpPr>
          <p:spPr>
            <a:xfrm>
              <a:off x="3823451" y="643512"/>
              <a:ext cx="4906265" cy="1318559"/>
            </a:xfrm>
            <a:custGeom>
              <a:rect b="b" l="l" r="r" t="t"/>
              <a:pathLst>
                <a:path extrusionOk="0" h="1318559" w="4906265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22" name="Google Shape;122;p3"/>
          <p:cNvSpPr/>
          <p:nvPr/>
        </p:nvSpPr>
        <p:spPr>
          <a:xfrm>
            <a:off x="-32901" y="1051100"/>
            <a:ext cx="18323704" cy="8777017"/>
          </a:xfrm>
          <a:custGeom>
            <a:rect b="b" l="l" r="r" t="t"/>
            <a:pathLst>
              <a:path extrusionOk="0" h="8777017" w="18323704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b="-40752" l="-2658" r="0" t="0"/>
            </a:stretch>
          </a:blipFill>
          <a:ln>
            <a:noFill/>
          </a:ln>
        </p:spPr>
      </p:sp>
      <p:sp>
        <p:nvSpPr>
          <p:cNvPr id="123" name="Google Shape;123;p3"/>
          <p:cNvSpPr/>
          <p:nvPr/>
        </p:nvSpPr>
        <p:spPr>
          <a:xfrm>
            <a:off x="3511563" y="9826112"/>
            <a:ext cx="11344944" cy="460888"/>
          </a:xfrm>
          <a:custGeom>
            <a:rect b="b" l="l" r="r" t="t"/>
            <a:pathLst>
              <a:path extrusionOk="0" h="460888" w="11344944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3"/>
          <p:cNvSpPr txBox="1"/>
          <p:nvPr/>
        </p:nvSpPr>
        <p:spPr>
          <a:xfrm>
            <a:off x="4117734" y="1500323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888415" y="221641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886241" y="3350000"/>
            <a:ext cx="6900000" cy="5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2000" b="0" i="0">
                <a:solidFill>
                  <a:srgbClr val="1B2A3A"/>
                </a:solidFill>
                <a:latin typeface="Calibri"/>
              </a:rPr>
              <a:t>A leaderless drone swarm that finds people cameras cannot see — by cooperatively locating a trapped victim’s phone from its radio signal.</a:t>
            </a:r>
          </a:p>
          <a:p>
            <a:pPr>
              <a:spcAft>
                <a:spcPts val="600"/>
              </a:spcAft>
            </a:pPr>
            <a:r>
              <a:rPr sz="2100" b="1" i="0">
                <a:solidFill>
                  <a:srgbClr val="0E8FA0"/>
                </a:solidFill>
                <a:latin typeface="Calibri"/>
              </a:rPr>
              <a:t>1.  Cooperative RF localization — the hero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1B2A3A"/>
                </a:solidFill>
                <a:latin typeface="Calibri"/>
              </a:rPr>
              <a:t>Several drones share signal-strength readings over their own mesh and climb the gradient to a phone none of them can see. One reading is meaningless; four readings from four positions point at a person.</a:t>
            </a:r>
          </a:p>
          <a:p>
            <a:pPr>
              <a:spcAft>
                <a:spcPts val="600"/>
              </a:spcAft>
            </a:pPr>
            <a:r>
              <a:rPr sz="2100" b="1" i="0">
                <a:solidFill>
                  <a:srgbClr val="D98829"/>
                </a:solidFill>
                <a:latin typeface="Calibri"/>
              </a:rPr>
              <a:t>2.  The re-observation loop — the spine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1B2A3A"/>
                </a:solidFill>
                <a:latin typeface="Calibri"/>
              </a:rPr>
              <a:t>A 0.41-confidence sighting is too strong to ignore and too weak to trust. The swarm turns that doubt into an auctioned task: another drone flies a different angle, and the two independent looks are fused into a confirm or a dismissal.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00000" y="3350000"/>
            <a:ext cx="9400000" cy="5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 i="0">
                <a:solidFill>
                  <a:srgbClr val="2E3192"/>
                </a:solidFill>
                <a:latin typeface="Calibri"/>
              </a:rPr>
              <a:t>WHAT MAKES IT INNOVATIVE</a:t>
            </a:r>
          </a:p>
          <a:p>
            <a:pPr>
              <a:spcAft>
                <a:spcPts val="1200"/>
              </a:spcAft>
            </a:pPr>
            <a:r>
              <a:rPr sz="2600" b="1" i="0">
                <a:solidFill>
                  <a:srgbClr val="0E8FA0"/>
                </a:solidFill>
                <a:latin typeface="Calibri"/>
              </a:rPr>
              <a:t>The swarm bids in information gain, not area.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B2A3A"/>
                </a:solidFill>
                <a:latin typeface="Calibri"/>
              </a:rPr>
              <a:t>Searching empty ground, re-checking an uncertain sighting, and triangulating an invisible phone all collapse into the same question:</a:t>
            </a:r>
          </a:p>
          <a:p>
            <a:pPr>
              <a:spcAft>
                <a:spcPts val="1800"/>
              </a:spcAft>
            </a:pPr>
            <a:r>
              <a:rPr sz="2000" b="1" i="1">
                <a:solidFill>
                  <a:srgbClr val="2E3192"/>
                </a:solidFill>
                <a:latin typeface="Calibri"/>
              </a:rPr>
              <a:t>“Where will my next move most reduce what the swarm does not yet know?”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B2A3A"/>
                </a:solidFill>
                <a:latin typeface="Calibri"/>
              </a:rPr>
              <a:t>That is why this is one system and not three features — and it answers the hardest question a judge can ask:</a:t>
            </a:r>
          </a:p>
          <a:p>
            <a:pPr>
              <a:spcAft>
                <a:spcPts val="800"/>
              </a:spcAft>
            </a:pPr>
            <a:r>
              <a:rPr sz="1900" b="1" i="0">
                <a:solidFill>
                  <a:srgbClr val="1B2A3A"/>
                </a:solidFill>
                <a:latin typeface="Calibri"/>
              </a:rPr>
              <a:t>“Why is this a swarm and not five drones with a shared to-do list?”</a:t>
            </a:r>
          </a:p>
          <a:p>
            <a:pPr>
              <a:spcAft>
                <a:spcPts val="0"/>
              </a:spcAft>
            </a:pPr>
            <a:r>
              <a:rPr sz="2100" b="1" i="0">
                <a:solidFill>
                  <a:srgbClr val="D98829"/>
                </a:solidFill>
                <a:latin typeface="Calibri"/>
              </a:rPr>
              <a:t>Because a to-do list divides work. KHOJ divides doubt.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4"/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134" name="Google Shape;134;p4"/>
            <p:cNvSpPr/>
            <p:nvPr/>
          </p:nvSpPr>
          <p:spPr>
            <a:xfrm>
              <a:off x="11416130" y="0"/>
              <a:ext cx="2312492" cy="2312492"/>
            </a:xfrm>
            <a:custGeom>
              <a:rect b="b" l="l" r="r" t="t"/>
              <a:pathLst>
                <a:path extrusionOk="0" h="2312492" w="2312492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5" name="Google Shape;135;p4"/>
            <p:cNvSpPr/>
            <p:nvPr/>
          </p:nvSpPr>
          <p:spPr>
            <a:xfrm>
              <a:off x="9371173" y="547849"/>
              <a:ext cx="1754643" cy="1414221"/>
            </a:xfrm>
            <a:custGeom>
              <a:rect b="b" l="l" r="r" t="t"/>
              <a:pathLst>
                <a:path extrusionOk="0" h="1414221" w="1754643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6" name="Google Shape;136;p4"/>
            <p:cNvSpPr/>
            <p:nvPr/>
          </p:nvSpPr>
          <p:spPr>
            <a:xfrm>
              <a:off x="0" y="604703"/>
              <a:ext cx="3006153" cy="1300514"/>
            </a:xfrm>
            <a:custGeom>
              <a:rect b="b" l="l" r="r" t="t"/>
              <a:pathLst>
                <a:path extrusionOk="0" h="1300514" w="3006153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7" name="Google Shape;137;p4"/>
            <p:cNvSpPr/>
            <p:nvPr/>
          </p:nvSpPr>
          <p:spPr>
            <a:xfrm>
              <a:off x="3823451" y="643512"/>
              <a:ext cx="4906265" cy="1318559"/>
            </a:xfrm>
            <a:custGeom>
              <a:rect b="b" l="l" r="r" t="t"/>
              <a:pathLst>
                <a:path extrusionOk="0" h="1318559" w="4906265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8" name="Google Shape;138;p4"/>
          <p:cNvSpPr/>
          <p:nvPr/>
        </p:nvSpPr>
        <p:spPr>
          <a:xfrm>
            <a:off x="3511563" y="9826112"/>
            <a:ext cx="11344944" cy="460888"/>
          </a:xfrm>
          <a:custGeom>
            <a:rect b="b" l="l" r="r" t="t"/>
            <a:pathLst>
              <a:path extrusionOk="0" h="460888" w="11344944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4"/>
          <p:cNvSpPr/>
          <p:nvPr/>
        </p:nvSpPr>
        <p:spPr>
          <a:xfrm>
            <a:off x="-32901" y="1051100"/>
            <a:ext cx="18323704" cy="8777017"/>
          </a:xfrm>
          <a:custGeom>
            <a:rect b="b" l="l" r="r" t="t"/>
            <a:pathLst>
              <a:path extrusionOk="0" h="8777017" w="18323704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32999"/>
            </a:blip>
            <a:stretch>
              <a:fillRect b="-40752" l="-2658" r="0" t="0"/>
            </a:stretch>
          </a:blipFill>
          <a:ln>
            <a:noFill/>
          </a:ln>
        </p:spPr>
      </p:sp>
      <p:sp>
        <p:nvSpPr>
          <p:cNvPr id="141" name="Google Shape;141;p4"/>
          <p:cNvSpPr txBox="1"/>
          <p:nvPr/>
        </p:nvSpPr>
        <p:spPr>
          <a:xfrm>
            <a:off x="4165933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8415" y="221641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886241" y="3020000"/>
            <a:ext cx="16500000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 i="1">
                <a:solidFill>
                  <a:srgbClr val="5A6B7C"/>
                </a:solidFill>
                <a:latin typeface="Calibri"/>
              </a:rPr>
              <a:t>Five ESP32s, one laptop, and two links that never mix — with a real F450 dropping in as one more agent.</a:t>
            </a:r>
          </a:p>
        </p:txBody>
      </p:sp>
      <p:pic>
        <p:nvPicPr>
          <p:cNvPr id="146" name="Picture 145" descr="01_architectu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8794" y="3560000"/>
            <a:ext cx="10314893" cy="606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4"/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134" name="Google Shape;134;p4"/>
            <p:cNvSpPr/>
            <p:nvPr/>
          </p:nvSpPr>
          <p:spPr>
            <a:xfrm>
              <a:off x="11416130" y="0"/>
              <a:ext cx="2312492" cy="2312492"/>
            </a:xfrm>
            <a:custGeom>
              <a:rect b="b" l="l" r="r" t="t"/>
              <a:pathLst>
                <a:path extrusionOk="0" h="2312492" w="2312492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5" name="Google Shape;135;p4"/>
            <p:cNvSpPr/>
            <p:nvPr/>
          </p:nvSpPr>
          <p:spPr>
            <a:xfrm>
              <a:off x="9371173" y="547849"/>
              <a:ext cx="1754643" cy="1414221"/>
            </a:xfrm>
            <a:custGeom>
              <a:rect b="b" l="l" r="r" t="t"/>
              <a:pathLst>
                <a:path extrusionOk="0" h="1414221" w="1754643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6" name="Google Shape;136;p4"/>
            <p:cNvSpPr/>
            <p:nvPr/>
          </p:nvSpPr>
          <p:spPr>
            <a:xfrm>
              <a:off x="0" y="604703"/>
              <a:ext cx="3006153" cy="1300514"/>
            </a:xfrm>
            <a:custGeom>
              <a:rect b="b" l="l" r="r" t="t"/>
              <a:pathLst>
                <a:path extrusionOk="0" h="1300514" w="3006153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7" name="Google Shape;137;p4"/>
            <p:cNvSpPr/>
            <p:nvPr/>
          </p:nvSpPr>
          <p:spPr>
            <a:xfrm>
              <a:off x="3823451" y="643512"/>
              <a:ext cx="4906265" cy="1318559"/>
            </a:xfrm>
            <a:custGeom>
              <a:rect b="b" l="l" r="r" t="t"/>
              <a:pathLst>
                <a:path extrusionOk="0" h="1318559" w="4906265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8" name="Google Shape;138;p4"/>
          <p:cNvSpPr/>
          <p:nvPr/>
        </p:nvSpPr>
        <p:spPr>
          <a:xfrm>
            <a:off x="3511563" y="9826112"/>
            <a:ext cx="11344944" cy="460888"/>
          </a:xfrm>
          <a:custGeom>
            <a:rect b="b" l="l" r="r" t="t"/>
            <a:pathLst>
              <a:path extrusionOk="0" h="460888" w="11344944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4"/>
          <p:cNvSpPr/>
          <p:nvPr/>
        </p:nvSpPr>
        <p:spPr>
          <a:xfrm>
            <a:off x="-32901" y="1051100"/>
            <a:ext cx="18323704" cy="8777017"/>
          </a:xfrm>
          <a:custGeom>
            <a:rect b="b" l="l" r="r" t="t"/>
            <a:pathLst>
              <a:path extrusionOk="0" h="8777017" w="18323704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32999"/>
            </a:blip>
            <a:stretch>
              <a:fillRect b="-40752" l="-2658" r="0" t="0"/>
            </a:stretch>
          </a:blipFill>
          <a:ln>
            <a:noFill/>
          </a:ln>
        </p:spPr>
      </p:sp>
      <p:sp>
        <p:nvSpPr>
          <p:cNvPr id="141" name="Google Shape;141;p4"/>
          <p:cNvSpPr txBox="1"/>
          <p:nvPr/>
        </p:nvSpPr>
        <p:spPr>
          <a:xfrm>
            <a:off x="4165933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8415" y="221641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SOFTWARE STACK  ·  THE ALGORITHMS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886241" y="3350000"/>
            <a:ext cx="6900000" cy="5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900" b="0" i="0">
                <a:solidFill>
                  <a:srgbClr val="1B2A3A"/>
                </a:solidFill>
                <a:latin typeface="Calibri"/>
              </a:rPr>
              <a:t>Runs on the laptop. Holds ground truth, simulates the world, and provides the reference implementation of every decision rule.</a:t>
            </a:r>
          </a:p>
          <a:p>
            <a:pPr>
              <a:spcAft>
                <a:spcPts val="1000"/>
              </a:spcAft>
            </a:pPr>
            <a:r>
              <a:rPr sz="2200" b="1" i="0">
                <a:solidFill>
                  <a:srgbClr val="2E3192"/>
                </a:solidFill>
                <a:latin typeface="Calibri"/>
              </a:rPr>
              <a:t>Built and unit-tested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Belief map — 32×32 survivor-probability grid per agent, drained multiplicatively over searched ground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Unified auction — one bid function across all four task types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Log-odds fusion — Bayesian confirm / dismiss on fused confidence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Hive-Mind — broadcast dismissals so no drone repeats a ruled-out lead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World simulator — physics, RF path-loss, low-threshold detector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Lawnmower baseline + metrics harness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YOLO perception on real aerial imagery, dashboard</a:t>
            </a:r>
          </a:p>
          <a:p>
            <a:pPr>
              <a:spcAft>
                <a:spcPts val="0"/>
              </a:spcAft>
            </a:pPr>
            <a:r>
              <a:rPr sz="1800" b="1" i="0">
                <a:solidFill>
                  <a:srgbClr val="D98829"/>
                </a:solidFill>
                <a:latin typeface="Calibri"/>
              </a:rPr>
              <a:t>Remaining: integration — binding the modules into one live loop and onto the serial contract.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000000" y="3350000"/>
            <a:ext cx="9400000" cy="1970000"/>
          </a:xfrm>
          <a:prstGeom prst="roundRect">
            <a:avLst>
              <a:gd name="adj" fmla="val 8000"/>
            </a:avLst>
          </a:prstGeom>
          <a:solidFill>
            <a:srgbClr val="E4F3F5"/>
          </a:solidFill>
          <a:ln w="19050">
            <a:solidFill>
              <a:srgbClr val="0E8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140000"/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0E8FA0"/>
                </a:solidFill>
                <a:latin typeface="Calibri"/>
              </a:rPr>
              <a:t>Python 3</a:t>
            </a:r>
            <a:r>
              <a:rPr sz="1900" b="1">
                <a:solidFill>
                  <a:srgbClr val="1B2A3A"/>
                </a:solidFill>
                <a:latin typeface="Calibri"/>
              </a:rPr>
              <a:t>   stdlib only, zero dependencies</a:t>
            </a:r>
          </a:p>
          <a:p>
            <a:pPr algn="l"/>
            <a:r>
              <a:rPr sz="1500">
                <a:solidFill>
                  <a:srgbClr val="5A6B7C"/>
                </a:solidFill>
                <a:latin typeface="Calibri"/>
              </a:rPr>
              <a:t>The core runs headless on any machine — no install step to fail on demo day.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000000" y="5510000"/>
            <a:ext cx="9400000" cy="1970000"/>
          </a:xfrm>
          <a:prstGeom prst="roundRect">
            <a:avLst>
              <a:gd name="adj" fmla="val 8000"/>
            </a:avLst>
          </a:prstGeom>
          <a:solidFill>
            <a:srgbClr val="E4F1EA"/>
          </a:solidFill>
          <a:ln w="1905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140000"/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2E7D5B"/>
                </a:solidFill>
                <a:latin typeface="Calibri"/>
              </a:rPr>
              <a:t>4-5 / 5</a:t>
            </a:r>
            <a:r>
              <a:rPr sz="1900" b="1">
                <a:solidFill>
                  <a:srgbClr val="1B2A3A"/>
                </a:solidFill>
                <a:latin typeface="Calibri"/>
              </a:rPr>
              <a:t>   survivors confirmed in simulation</a:t>
            </a:r>
          </a:p>
          <a:p>
            <a:pPr algn="l"/>
            <a:r>
              <a:rPr sz="1500">
                <a:solidFill>
                  <a:srgbClr val="5A6B7C"/>
                </a:solidFill>
                <a:latin typeface="Calibri"/>
              </a:rPr>
              <a:t>Against an identical world, the camera-only baseline manages 3-4.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000000" y="7670000"/>
            <a:ext cx="9400000" cy="1970000"/>
          </a:xfrm>
          <a:prstGeom prst="roundRect">
            <a:avLst>
              <a:gd name="adj" fmla="val 8000"/>
            </a:avLst>
          </a:prstGeom>
          <a:solidFill>
            <a:srgbClr val="ECEEF7"/>
          </a:solidFill>
          <a:ln w="19050">
            <a:solidFill>
              <a:srgbClr val="2E31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140000"/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2E3192"/>
                </a:solidFill>
                <a:latin typeface="Calibri"/>
              </a:rPr>
              <a:t>Reference</a:t>
            </a:r>
            <a:r>
              <a:rPr sz="1900" b="1">
                <a:solidFill>
                  <a:srgbClr val="1B2A3A"/>
                </a:solidFill>
                <a:latin typeface="Calibri"/>
              </a:rPr>
              <a:t>   for the firmware port</a:t>
            </a:r>
          </a:p>
          <a:p>
            <a:pPr algn="l"/>
            <a:r>
              <a:rPr sz="1500">
                <a:solidFill>
                  <a:srgbClr val="5A6B7C"/>
                </a:solidFill>
                <a:latin typeface="Calibri"/>
              </a:rPr>
              <a:t>The same auction is being ported to C so the boards and the simulator provably agree.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4"/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134" name="Google Shape;134;p4"/>
            <p:cNvSpPr/>
            <p:nvPr/>
          </p:nvSpPr>
          <p:spPr>
            <a:xfrm>
              <a:off x="11416130" y="0"/>
              <a:ext cx="2312492" cy="2312492"/>
            </a:xfrm>
            <a:custGeom>
              <a:rect b="b" l="l" r="r" t="t"/>
              <a:pathLst>
                <a:path extrusionOk="0" h="2312492" w="2312492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5" name="Google Shape;135;p4"/>
            <p:cNvSpPr/>
            <p:nvPr/>
          </p:nvSpPr>
          <p:spPr>
            <a:xfrm>
              <a:off x="9371173" y="547849"/>
              <a:ext cx="1754643" cy="1414221"/>
            </a:xfrm>
            <a:custGeom>
              <a:rect b="b" l="l" r="r" t="t"/>
              <a:pathLst>
                <a:path extrusionOk="0" h="1414221" w="1754643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6" name="Google Shape;136;p4"/>
            <p:cNvSpPr/>
            <p:nvPr/>
          </p:nvSpPr>
          <p:spPr>
            <a:xfrm>
              <a:off x="0" y="604703"/>
              <a:ext cx="3006153" cy="1300514"/>
            </a:xfrm>
            <a:custGeom>
              <a:rect b="b" l="l" r="r" t="t"/>
              <a:pathLst>
                <a:path extrusionOk="0" h="1300514" w="3006153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7" name="Google Shape;137;p4"/>
            <p:cNvSpPr/>
            <p:nvPr/>
          </p:nvSpPr>
          <p:spPr>
            <a:xfrm>
              <a:off x="3823451" y="643512"/>
              <a:ext cx="4906265" cy="1318559"/>
            </a:xfrm>
            <a:custGeom>
              <a:rect b="b" l="l" r="r" t="t"/>
              <a:pathLst>
                <a:path extrusionOk="0" h="1318559" w="4906265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8" name="Google Shape;138;p4"/>
          <p:cNvSpPr/>
          <p:nvPr/>
        </p:nvSpPr>
        <p:spPr>
          <a:xfrm>
            <a:off x="3511563" y="9826112"/>
            <a:ext cx="11344944" cy="460888"/>
          </a:xfrm>
          <a:custGeom>
            <a:rect b="b" l="l" r="r" t="t"/>
            <a:pathLst>
              <a:path extrusionOk="0" h="460888" w="11344944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4"/>
          <p:cNvSpPr/>
          <p:nvPr/>
        </p:nvSpPr>
        <p:spPr>
          <a:xfrm>
            <a:off x="-32901" y="1051100"/>
            <a:ext cx="18323704" cy="8777017"/>
          </a:xfrm>
          <a:custGeom>
            <a:rect b="b" l="l" r="r" t="t"/>
            <a:pathLst>
              <a:path extrusionOk="0" h="8777017" w="18323704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32999"/>
            </a:blip>
            <a:stretch>
              <a:fillRect b="-40752" l="-2658" r="0" t="0"/>
            </a:stretch>
          </a:blipFill>
          <a:ln>
            <a:noFill/>
          </a:ln>
        </p:spPr>
      </p:sp>
      <p:sp>
        <p:nvSpPr>
          <p:cNvPr id="141" name="Google Shape;141;p4"/>
          <p:cNvSpPr txBox="1"/>
          <p:nvPr/>
        </p:nvSpPr>
        <p:spPr>
          <a:xfrm>
            <a:off x="4165933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8415" y="221641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THE AUCTION  ·  LEADERLESS CONSENSUS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886241" y="3020000"/>
            <a:ext cx="16500000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 i="1">
                <a:solidFill>
                  <a:srgbClr val="5A6B7C"/>
                </a:solidFill>
                <a:latin typeface="Calibri"/>
              </a:rPr>
              <a:t>Every board runs the same rule on the same data — so all five reach the same winner with no referee.</a:t>
            </a:r>
          </a:p>
        </p:txBody>
      </p:sp>
      <p:pic>
        <p:nvPicPr>
          <p:cNvPr id="146" name="Picture 145" descr="02_auction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574" y="3560000"/>
            <a:ext cx="10773333" cy="606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4"/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134" name="Google Shape;134;p4"/>
            <p:cNvSpPr/>
            <p:nvPr/>
          </p:nvSpPr>
          <p:spPr>
            <a:xfrm>
              <a:off x="11416130" y="0"/>
              <a:ext cx="2312492" cy="2312492"/>
            </a:xfrm>
            <a:custGeom>
              <a:rect b="b" l="l" r="r" t="t"/>
              <a:pathLst>
                <a:path extrusionOk="0" h="2312492" w="2312492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5" name="Google Shape;135;p4"/>
            <p:cNvSpPr/>
            <p:nvPr/>
          </p:nvSpPr>
          <p:spPr>
            <a:xfrm>
              <a:off x="9371173" y="547849"/>
              <a:ext cx="1754643" cy="1414221"/>
            </a:xfrm>
            <a:custGeom>
              <a:rect b="b" l="l" r="r" t="t"/>
              <a:pathLst>
                <a:path extrusionOk="0" h="1414221" w="1754643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6" name="Google Shape;136;p4"/>
            <p:cNvSpPr/>
            <p:nvPr/>
          </p:nvSpPr>
          <p:spPr>
            <a:xfrm>
              <a:off x="0" y="604703"/>
              <a:ext cx="3006153" cy="1300514"/>
            </a:xfrm>
            <a:custGeom>
              <a:rect b="b" l="l" r="r" t="t"/>
              <a:pathLst>
                <a:path extrusionOk="0" h="1300514" w="3006153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7" name="Google Shape;137;p4"/>
            <p:cNvSpPr/>
            <p:nvPr/>
          </p:nvSpPr>
          <p:spPr>
            <a:xfrm>
              <a:off x="3823451" y="643512"/>
              <a:ext cx="4906265" cy="1318559"/>
            </a:xfrm>
            <a:custGeom>
              <a:rect b="b" l="l" r="r" t="t"/>
              <a:pathLst>
                <a:path extrusionOk="0" h="1318559" w="4906265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8" name="Google Shape;138;p4"/>
          <p:cNvSpPr/>
          <p:nvPr/>
        </p:nvSpPr>
        <p:spPr>
          <a:xfrm>
            <a:off x="3511563" y="9826112"/>
            <a:ext cx="11344944" cy="460888"/>
          </a:xfrm>
          <a:custGeom>
            <a:rect b="b" l="l" r="r" t="t"/>
            <a:pathLst>
              <a:path extrusionOk="0" h="460888" w="11344944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4"/>
          <p:cNvSpPr/>
          <p:nvPr/>
        </p:nvSpPr>
        <p:spPr>
          <a:xfrm>
            <a:off x="-32901" y="1051100"/>
            <a:ext cx="18323704" cy="8777017"/>
          </a:xfrm>
          <a:custGeom>
            <a:rect b="b" l="l" r="r" t="t"/>
            <a:pathLst>
              <a:path extrusionOk="0" h="8777017" w="18323704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32999"/>
            </a:blip>
            <a:stretch>
              <a:fillRect b="-40752" l="-2658" r="0" t="0"/>
            </a:stretch>
          </a:blipFill>
          <a:ln>
            <a:noFill/>
          </a:ln>
        </p:spPr>
      </p:sp>
      <p:sp>
        <p:nvSpPr>
          <p:cNvPr id="141" name="Google Shape;141;p4"/>
          <p:cNvSpPr txBox="1"/>
          <p:nvPr/>
        </p:nvSpPr>
        <p:spPr>
          <a:xfrm>
            <a:off x="4165933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8415" y="221641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RE-OBSERVATION  ·  WHY IT IS A SWARM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886241" y="3020000"/>
            <a:ext cx="16500000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 i="1">
                <a:solidFill>
                  <a:srgbClr val="5A6B7C"/>
                </a:solidFill>
                <a:latin typeface="Calibri"/>
              </a:rPr>
              <a:t>Run the detector at a low threshold to catch half-buried victims — then cancel the false alarms with a second look.</a:t>
            </a:r>
          </a:p>
        </p:txBody>
      </p:sp>
      <p:pic>
        <p:nvPicPr>
          <p:cNvPr id="146" name="Picture 145" descr="03_re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574" y="3560000"/>
            <a:ext cx="10773333" cy="606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4"/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134" name="Google Shape;134;p4"/>
            <p:cNvSpPr/>
            <p:nvPr/>
          </p:nvSpPr>
          <p:spPr>
            <a:xfrm>
              <a:off x="11416130" y="0"/>
              <a:ext cx="2312492" cy="2312492"/>
            </a:xfrm>
            <a:custGeom>
              <a:rect b="b" l="l" r="r" t="t"/>
              <a:pathLst>
                <a:path extrusionOk="0" h="2312492" w="2312492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5" name="Google Shape;135;p4"/>
            <p:cNvSpPr/>
            <p:nvPr/>
          </p:nvSpPr>
          <p:spPr>
            <a:xfrm>
              <a:off x="9371173" y="547849"/>
              <a:ext cx="1754643" cy="1414221"/>
            </a:xfrm>
            <a:custGeom>
              <a:rect b="b" l="l" r="r" t="t"/>
              <a:pathLst>
                <a:path extrusionOk="0" h="1414221" w="1754643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6" name="Google Shape;136;p4"/>
            <p:cNvSpPr/>
            <p:nvPr/>
          </p:nvSpPr>
          <p:spPr>
            <a:xfrm>
              <a:off x="0" y="604703"/>
              <a:ext cx="3006153" cy="1300514"/>
            </a:xfrm>
            <a:custGeom>
              <a:rect b="b" l="l" r="r" t="t"/>
              <a:pathLst>
                <a:path extrusionOk="0" h="1300514" w="3006153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7" name="Google Shape;137;p4"/>
            <p:cNvSpPr/>
            <p:nvPr/>
          </p:nvSpPr>
          <p:spPr>
            <a:xfrm>
              <a:off x="3823451" y="643512"/>
              <a:ext cx="4906265" cy="1318559"/>
            </a:xfrm>
            <a:custGeom>
              <a:rect b="b" l="l" r="r" t="t"/>
              <a:pathLst>
                <a:path extrusionOk="0" h="1318559" w="4906265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8" name="Google Shape;138;p4"/>
          <p:cNvSpPr/>
          <p:nvPr/>
        </p:nvSpPr>
        <p:spPr>
          <a:xfrm>
            <a:off x="3511563" y="9826112"/>
            <a:ext cx="11344944" cy="460888"/>
          </a:xfrm>
          <a:custGeom>
            <a:rect b="b" l="l" r="r" t="t"/>
            <a:pathLst>
              <a:path extrusionOk="0" h="460888" w="11344944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4"/>
          <p:cNvSpPr/>
          <p:nvPr/>
        </p:nvSpPr>
        <p:spPr>
          <a:xfrm>
            <a:off x="-32901" y="1051100"/>
            <a:ext cx="18323704" cy="8777017"/>
          </a:xfrm>
          <a:custGeom>
            <a:rect b="b" l="l" r="r" t="t"/>
            <a:pathLst>
              <a:path extrusionOk="0" h="8777017" w="18323704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32999"/>
            </a:blip>
            <a:stretch>
              <a:fillRect b="-40752" l="-2658" r="0" t="0"/>
            </a:stretch>
          </a:blipFill>
          <a:ln>
            <a:noFill/>
          </a:ln>
        </p:spPr>
      </p:sp>
      <p:sp>
        <p:nvSpPr>
          <p:cNvPr id="141" name="Google Shape;141;p4"/>
          <p:cNvSpPr txBox="1"/>
          <p:nvPr/>
        </p:nvSpPr>
        <p:spPr>
          <a:xfrm>
            <a:off x="4165933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8415" y="221641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HARDWARE STACK  ·  THE DECENTRALIZED MESH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886241" y="3350000"/>
            <a:ext cx="6900000" cy="5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900" b="0" i="0">
                <a:solidFill>
                  <a:srgbClr val="1B2A3A"/>
                </a:solidFill>
                <a:latin typeface="Calibri"/>
              </a:rPr>
              <a:t>Runs on the boards. Five ESP32s negotiating peer-to-peer over their own radio, with no router, no pairing and no leader.</a:t>
            </a:r>
          </a:p>
          <a:p>
            <a:pPr>
              <a:spcAft>
                <a:spcPts val="1000"/>
              </a:spcAft>
            </a:pPr>
            <a:r>
              <a:rPr sz="2200" b="1" i="0">
                <a:solidFill>
                  <a:srgbClr val="2E3192"/>
                </a:solidFill>
                <a:latin typeface="Calibri"/>
              </a:rPr>
              <a:t>Working on real hardware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ESP-NOW broadcast mesh — 23-byte packets at 5 Hz, all five boards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Live peer table — every board independently tracks who is alive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Failure detection — silence for 2 s and the peer is dropped everywhere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Per-agent RSSI capture straight from the receive callback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Byte-verified USB contract, proven both directions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MAC-derived identity — one binary flashes to every board</a:t>
            </a:r>
          </a:p>
          <a:p>
            <a:pPr>
              <a:spcAft>
                <a:spcPts val="0"/>
              </a:spcAft>
            </a:pPr>
            <a:r>
              <a:rPr sz="1800" b="1" i="0">
                <a:solidFill>
                  <a:srgbClr val="D98829"/>
                </a:solidFill>
                <a:latin typeface="Calibri"/>
              </a:rPr>
              <a:t>Remaining: port the auction on-device, then share RF samples across the mesh.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000000" y="3350000"/>
            <a:ext cx="9400000" cy="1970000"/>
          </a:xfrm>
          <a:prstGeom prst="roundRect">
            <a:avLst>
              <a:gd name="adj" fmla="val 8000"/>
            </a:avLst>
          </a:prstGeom>
          <a:solidFill>
            <a:srgbClr val="E4F3F5"/>
          </a:solidFill>
          <a:ln w="19050">
            <a:solidFill>
              <a:srgbClr val="0E8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140000"/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0E8FA0"/>
                </a:solidFill>
                <a:latin typeface="Calibri"/>
              </a:rPr>
              <a:t>0.0%</a:t>
            </a:r>
            <a:r>
              <a:rPr sz="1900" b="1">
                <a:solidFill>
                  <a:srgbClr val="1B2A3A"/>
                </a:solidFill>
                <a:latin typeface="Calibri"/>
              </a:rPr>
              <a:t>   measured packet loss</a:t>
            </a:r>
          </a:p>
          <a:p>
            <a:pPr algn="l"/>
            <a:r>
              <a:rPr sz="1500">
                <a:solidFill>
                  <a:srgbClr val="5A6B7C"/>
                </a:solidFill>
                <a:latin typeface="Calibri"/>
              </a:rPr>
              <a:t>Across five boards on the bench — computed from gaps in each sender’s sequence numbers, not estimated.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000000" y="5510000"/>
            <a:ext cx="9400000" cy="1970000"/>
          </a:xfrm>
          <a:prstGeom prst="roundRect">
            <a:avLst>
              <a:gd name="adj" fmla="val 8000"/>
            </a:avLst>
          </a:prstGeom>
          <a:solidFill>
            <a:srgbClr val="F9E7E5"/>
          </a:solidFill>
          <a:ln w="19050">
            <a:solidFill>
              <a:srgbClr val="B84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140000"/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B8433A"/>
                </a:solidFill>
                <a:latin typeface="Calibri"/>
              </a:rPr>
              <a:t>&lt; 2 s</a:t>
            </a:r>
            <a:r>
              <a:rPr sz="1900" b="1">
                <a:solidFill>
                  <a:srgbClr val="1B2A3A"/>
                </a:solidFill>
                <a:latin typeface="Calibri"/>
              </a:rPr>
              <a:t>   to detect a dead drone</a:t>
            </a:r>
          </a:p>
          <a:p>
            <a:pPr algn="l"/>
            <a:r>
              <a:rPr sz="1500">
                <a:solidFill>
                  <a:srgbClr val="5A6B7C"/>
                </a:solidFill>
                <a:latin typeface="Calibri"/>
              </a:rPr>
              <a:t>Every surviving board reaches that conclusion independently. Recovery is emergent, not scripted.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000000" y="7670000"/>
            <a:ext cx="9400000" cy="1970000"/>
          </a:xfrm>
          <a:prstGeom prst="roundRect">
            <a:avLst>
              <a:gd name="adj" fmla="val 8000"/>
            </a:avLst>
          </a:prstGeom>
          <a:solidFill>
            <a:srgbClr val="E4F1EA"/>
          </a:solidFill>
          <a:ln w="1905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140000"/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2E7D5B"/>
                </a:solidFill>
                <a:latin typeface="Calibri"/>
              </a:rPr>
              <a:t>-23 to -72 dBm</a:t>
            </a:r>
            <a:r>
              <a:rPr sz="1900" b="1">
                <a:solidFill>
                  <a:srgbClr val="1B2A3A"/>
                </a:solidFill>
                <a:latin typeface="Calibri"/>
              </a:rPr>
              <a:t>   live signal range</a:t>
            </a:r>
          </a:p>
          <a:p>
            <a:pPr algn="l"/>
            <a:r>
              <a:rPr sz="1500">
                <a:solidFill>
                  <a:srgbClr val="5A6B7C"/>
                </a:solidFill>
                <a:latin typeface="Calibri"/>
              </a:rPr>
              <a:t>Per-agent RSSI working on hardware — the measurement the entire RF hero demo depends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4"/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134" name="Google Shape;134;p4"/>
            <p:cNvSpPr/>
            <p:nvPr/>
          </p:nvSpPr>
          <p:spPr>
            <a:xfrm>
              <a:off x="11416130" y="0"/>
              <a:ext cx="2312492" cy="2312492"/>
            </a:xfrm>
            <a:custGeom>
              <a:rect b="b" l="l" r="r" t="t"/>
              <a:pathLst>
                <a:path extrusionOk="0" h="2312492" w="2312492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5" name="Google Shape;135;p4"/>
            <p:cNvSpPr/>
            <p:nvPr/>
          </p:nvSpPr>
          <p:spPr>
            <a:xfrm>
              <a:off x="9371173" y="547849"/>
              <a:ext cx="1754643" cy="1414221"/>
            </a:xfrm>
            <a:custGeom>
              <a:rect b="b" l="l" r="r" t="t"/>
              <a:pathLst>
                <a:path extrusionOk="0" h="1414221" w="1754643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6" name="Google Shape;136;p4"/>
            <p:cNvSpPr/>
            <p:nvPr/>
          </p:nvSpPr>
          <p:spPr>
            <a:xfrm>
              <a:off x="0" y="604703"/>
              <a:ext cx="3006153" cy="1300514"/>
            </a:xfrm>
            <a:custGeom>
              <a:rect b="b" l="l" r="r" t="t"/>
              <a:pathLst>
                <a:path extrusionOk="0" h="1300514" w="3006153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7" name="Google Shape;137;p4"/>
            <p:cNvSpPr/>
            <p:nvPr/>
          </p:nvSpPr>
          <p:spPr>
            <a:xfrm>
              <a:off x="3823451" y="643512"/>
              <a:ext cx="4906265" cy="1318559"/>
            </a:xfrm>
            <a:custGeom>
              <a:rect b="b" l="l" r="r" t="t"/>
              <a:pathLst>
                <a:path extrusionOk="0" h="1318559" w="4906265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8" name="Google Shape;138;p4"/>
          <p:cNvSpPr/>
          <p:nvPr/>
        </p:nvSpPr>
        <p:spPr>
          <a:xfrm>
            <a:off x="3511563" y="9826112"/>
            <a:ext cx="11344944" cy="460888"/>
          </a:xfrm>
          <a:custGeom>
            <a:rect b="b" l="l" r="r" t="t"/>
            <a:pathLst>
              <a:path extrusionOk="0" h="460888" w="11344944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4"/>
          <p:cNvSpPr/>
          <p:nvPr/>
        </p:nvSpPr>
        <p:spPr>
          <a:xfrm>
            <a:off x="-32901" y="1051100"/>
            <a:ext cx="18323704" cy="8777017"/>
          </a:xfrm>
          <a:custGeom>
            <a:rect b="b" l="l" r="r" t="t"/>
            <a:pathLst>
              <a:path extrusionOk="0" h="8777017" w="18323704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32999"/>
            </a:blip>
            <a:stretch>
              <a:fillRect b="-40752" l="-2658" r="0" t="0"/>
            </a:stretch>
          </a:blipFill>
          <a:ln>
            <a:noFill/>
          </a:ln>
        </p:spPr>
      </p:sp>
      <p:sp>
        <p:nvSpPr>
          <p:cNvPr id="141" name="Google Shape;141;p4"/>
          <p:cNvSpPr txBox="1"/>
          <p:nvPr/>
        </p:nvSpPr>
        <p:spPr>
          <a:xfrm>
            <a:off x="4165933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8415" y="221641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COOPERATIVE RF LOCALIZATION  ·  THE HERO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886241" y="3020000"/>
            <a:ext cx="16500000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 i="1">
                <a:solidFill>
                  <a:srgbClr val="5A6B7C"/>
                </a:solidFill>
                <a:latin typeface="Calibri"/>
              </a:rPr>
              <a:t>Gradient-seeking, not trilateration — it never needs calibration, only “stronger here, or there?”</a:t>
            </a:r>
          </a:p>
        </p:txBody>
      </p:sp>
      <p:pic>
        <p:nvPicPr>
          <p:cNvPr id="146" name="Picture 145" descr="04_rf_loc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574" y="3560000"/>
            <a:ext cx="10773333" cy="606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4"/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134" name="Google Shape;134;p4"/>
            <p:cNvSpPr/>
            <p:nvPr/>
          </p:nvSpPr>
          <p:spPr>
            <a:xfrm>
              <a:off x="11416130" y="0"/>
              <a:ext cx="2312492" cy="2312492"/>
            </a:xfrm>
            <a:custGeom>
              <a:rect b="b" l="l" r="r" t="t"/>
              <a:pathLst>
                <a:path extrusionOk="0" h="2312492" w="2312492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5" name="Google Shape;135;p4"/>
            <p:cNvSpPr/>
            <p:nvPr/>
          </p:nvSpPr>
          <p:spPr>
            <a:xfrm>
              <a:off x="9371173" y="547849"/>
              <a:ext cx="1754643" cy="1414221"/>
            </a:xfrm>
            <a:custGeom>
              <a:rect b="b" l="l" r="r" t="t"/>
              <a:pathLst>
                <a:path extrusionOk="0" h="1414221" w="1754643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6" name="Google Shape;136;p4"/>
            <p:cNvSpPr/>
            <p:nvPr/>
          </p:nvSpPr>
          <p:spPr>
            <a:xfrm>
              <a:off x="0" y="604703"/>
              <a:ext cx="3006153" cy="1300514"/>
            </a:xfrm>
            <a:custGeom>
              <a:rect b="b" l="l" r="r" t="t"/>
              <a:pathLst>
                <a:path extrusionOk="0" h="1300514" w="3006153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7" name="Google Shape;137;p4"/>
            <p:cNvSpPr/>
            <p:nvPr/>
          </p:nvSpPr>
          <p:spPr>
            <a:xfrm>
              <a:off x="3823451" y="643512"/>
              <a:ext cx="4906265" cy="1318559"/>
            </a:xfrm>
            <a:custGeom>
              <a:rect b="b" l="l" r="r" t="t"/>
              <a:pathLst>
                <a:path extrusionOk="0" h="1318559" w="4906265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8" name="Google Shape;138;p4"/>
          <p:cNvSpPr/>
          <p:nvPr/>
        </p:nvSpPr>
        <p:spPr>
          <a:xfrm>
            <a:off x="3511563" y="9826112"/>
            <a:ext cx="11344944" cy="460888"/>
          </a:xfrm>
          <a:custGeom>
            <a:rect b="b" l="l" r="r" t="t"/>
            <a:pathLst>
              <a:path extrusionOk="0" h="460888" w="11344944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4"/>
          <p:cNvSpPr/>
          <p:nvPr/>
        </p:nvSpPr>
        <p:spPr>
          <a:xfrm>
            <a:off x="-32901" y="1051100"/>
            <a:ext cx="18323704" cy="8777017"/>
          </a:xfrm>
          <a:custGeom>
            <a:rect b="b" l="l" r="r" t="t"/>
            <a:pathLst>
              <a:path extrusionOk="0" h="8777017" w="18323704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32999"/>
            </a:blip>
            <a:stretch>
              <a:fillRect b="-40752" l="-2658" r="0" t="0"/>
            </a:stretch>
          </a:blipFill>
          <a:ln>
            <a:noFill/>
          </a:ln>
        </p:spPr>
      </p:sp>
      <p:sp>
        <p:nvSpPr>
          <p:cNvPr id="141" name="Google Shape;141;p4"/>
          <p:cNvSpPr txBox="1"/>
          <p:nvPr/>
        </p:nvSpPr>
        <p:spPr>
          <a:xfrm>
            <a:off x="4165933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8415" y="221641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WHY DECENTRALIZED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886241" y="3020000"/>
            <a:ext cx="16500000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 i="1">
                <a:solidFill>
                  <a:srgbClr val="5A6B7C"/>
                </a:solidFill>
                <a:latin typeface="Calibri"/>
              </a:rPr>
              <a:t>O(1) per drone instead of O(N) on a ground station — which is exactly why a $3 chip is enough.</a:t>
            </a:r>
          </a:p>
        </p:txBody>
      </p:sp>
      <p:pic>
        <p:nvPicPr>
          <p:cNvPr id="146" name="Picture 145" descr="05_centralized_vs_kh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812" y="3560000"/>
            <a:ext cx="11542857" cy="606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5"/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150" name="Google Shape;150;p5"/>
            <p:cNvSpPr/>
            <p:nvPr/>
          </p:nvSpPr>
          <p:spPr>
            <a:xfrm>
              <a:off x="11416130" y="0"/>
              <a:ext cx="2312492" cy="2312492"/>
            </a:xfrm>
            <a:custGeom>
              <a:rect b="b" l="l" r="r" t="t"/>
              <a:pathLst>
                <a:path extrusionOk="0" h="2312492" w="2312492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1" name="Google Shape;151;p5"/>
            <p:cNvSpPr/>
            <p:nvPr/>
          </p:nvSpPr>
          <p:spPr>
            <a:xfrm>
              <a:off x="9371173" y="547849"/>
              <a:ext cx="1754643" cy="1414221"/>
            </a:xfrm>
            <a:custGeom>
              <a:rect b="b" l="l" r="r" t="t"/>
              <a:pathLst>
                <a:path extrusionOk="0" h="1414221" w="1754643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2" name="Google Shape;152;p5"/>
            <p:cNvSpPr/>
            <p:nvPr/>
          </p:nvSpPr>
          <p:spPr>
            <a:xfrm>
              <a:off x="0" y="604703"/>
              <a:ext cx="3006153" cy="1300514"/>
            </a:xfrm>
            <a:custGeom>
              <a:rect b="b" l="l" r="r" t="t"/>
              <a:pathLst>
                <a:path extrusionOk="0" h="1300514" w="3006153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3" name="Google Shape;153;p5"/>
            <p:cNvSpPr/>
            <p:nvPr/>
          </p:nvSpPr>
          <p:spPr>
            <a:xfrm>
              <a:off x="3823451" y="643512"/>
              <a:ext cx="4906265" cy="1318559"/>
            </a:xfrm>
            <a:custGeom>
              <a:rect b="b" l="l" r="r" t="t"/>
              <a:pathLst>
                <a:path extrusionOk="0" h="1318559" w="4906265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54" name="Google Shape;154;p5"/>
          <p:cNvSpPr/>
          <p:nvPr/>
        </p:nvSpPr>
        <p:spPr>
          <a:xfrm>
            <a:off x="-32901" y="1051100"/>
            <a:ext cx="18323704" cy="8777017"/>
          </a:xfrm>
          <a:custGeom>
            <a:rect b="b" l="l" r="r" t="t"/>
            <a:pathLst>
              <a:path extrusionOk="0" h="8777017" w="18323704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b="-40752" l="-2658" r="0" t="0"/>
            </a:stretch>
          </a:blipFill>
          <a:ln>
            <a:noFill/>
          </a:ln>
        </p:spPr>
      </p:sp>
      <p:sp>
        <p:nvSpPr>
          <p:cNvPr id="155" name="Google Shape;155;p5"/>
          <p:cNvSpPr/>
          <p:nvPr/>
        </p:nvSpPr>
        <p:spPr>
          <a:xfrm>
            <a:off x="3511563" y="9826112"/>
            <a:ext cx="11344944" cy="460888"/>
          </a:xfrm>
          <a:custGeom>
            <a:rect b="b" l="l" r="r" t="t"/>
            <a:pathLst>
              <a:path extrusionOk="0" h="460888" w="11344944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5"/>
          <p:cNvSpPr txBox="1"/>
          <p:nvPr/>
        </p:nvSpPr>
        <p:spPr>
          <a:xfrm>
            <a:off x="4165933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888415" y="221641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DEMO  ·  PROTOTYPE  ·  RESULTS</a:t>
            </a:r>
            <a:endParaRPr b="1" sz="40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886241" y="3020000"/>
            <a:ext cx="16500000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 i="1">
                <a:solidFill>
                  <a:srgbClr val="5A6B7C"/>
                </a:solidFill>
                <a:latin typeface="Calibri"/>
              </a:rPr>
              <a:t>Verified across four random worlds — plus the one victim a camera-only sweep can never find.</a:t>
            </a:r>
          </a:p>
        </p:txBody>
      </p:sp>
      <p:pic>
        <p:nvPicPr>
          <p:cNvPr id="162" name="Picture 161" descr="06_resul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7150" y="3560000"/>
            <a:ext cx="11018181" cy="606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6"/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166" name="Google Shape;166;p6"/>
            <p:cNvSpPr/>
            <p:nvPr/>
          </p:nvSpPr>
          <p:spPr>
            <a:xfrm>
              <a:off x="11416130" y="0"/>
              <a:ext cx="2312492" cy="2312492"/>
            </a:xfrm>
            <a:custGeom>
              <a:rect b="b" l="l" r="r" t="t"/>
              <a:pathLst>
                <a:path extrusionOk="0" h="2312492" w="2312492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7" name="Google Shape;167;p6"/>
            <p:cNvSpPr/>
            <p:nvPr/>
          </p:nvSpPr>
          <p:spPr>
            <a:xfrm>
              <a:off x="9371173" y="547849"/>
              <a:ext cx="1754643" cy="1414221"/>
            </a:xfrm>
            <a:custGeom>
              <a:rect b="b" l="l" r="r" t="t"/>
              <a:pathLst>
                <a:path extrusionOk="0" h="1414221" w="1754643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8" name="Google Shape;168;p6"/>
            <p:cNvSpPr/>
            <p:nvPr/>
          </p:nvSpPr>
          <p:spPr>
            <a:xfrm>
              <a:off x="0" y="604703"/>
              <a:ext cx="3006153" cy="1300514"/>
            </a:xfrm>
            <a:custGeom>
              <a:rect b="b" l="l" r="r" t="t"/>
              <a:pathLst>
                <a:path extrusionOk="0" h="1300514" w="3006153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9" name="Google Shape;169;p6"/>
            <p:cNvSpPr/>
            <p:nvPr/>
          </p:nvSpPr>
          <p:spPr>
            <a:xfrm>
              <a:off x="3823451" y="643512"/>
              <a:ext cx="4906265" cy="1318559"/>
            </a:xfrm>
            <a:custGeom>
              <a:rect b="b" l="l" r="r" t="t"/>
              <a:pathLst>
                <a:path extrusionOk="0" h="1318559" w="4906265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70" name="Google Shape;170;p6"/>
          <p:cNvSpPr/>
          <p:nvPr/>
        </p:nvSpPr>
        <p:spPr>
          <a:xfrm>
            <a:off x="-32901" y="1051100"/>
            <a:ext cx="18323704" cy="8777017"/>
          </a:xfrm>
          <a:custGeom>
            <a:rect b="b" l="l" r="r" t="t"/>
            <a:pathLst>
              <a:path extrusionOk="0" h="8777017" w="18323704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b="-40752" l="-2658" r="0" t="0"/>
            </a:stretch>
          </a:blipFill>
          <a:ln>
            <a:noFill/>
          </a:ln>
        </p:spPr>
      </p:sp>
      <p:sp>
        <p:nvSpPr>
          <p:cNvPr id="171" name="Google Shape;171;p6"/>
          <p:cNvSpPr/>
          <p:nvPr/>
        </p:nvSpPr>
        <p:spPr>
          <a:xfrm>
            <a:off x="3511563" y="9826112"/>
            <a:ext cx="11344944" cy="460888"/>
          </a:xfrm>
          <a:custGeom>
            <a:rect b="b" l="l" r="r" t="t"/>
            <a:pathLst>
              <a:path extrusionOk="0" h="460888" w="11344944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6"/>
          <p:cNvSpPr txBox="1"/>
          <p:nvPr/>
        </p:nvSpPr>
        <p:spPr>
          <a:xfrm>
            <a:off x="4165933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888415" y="221641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IMPACT &amp; USE CASES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886241" y="3350000"/>
            <a:ext cx="6900000" cy="5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 i="0">
                <a:solidFill>
                  <a:srgbClr val="2E3192"/>
                </a:solidFill>
                <a:latin typeface="Calibri"/>
              </a:rPr>
              <a:t>Who benefits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800" b="0" i="0">
                <a:solidFill>
                  <a:srgbClr val="1B2A3A"/>
                </a:solidFill>
                <a:latin typeface="Calibri"/>
              </a:rPr>
              <a:t>Trapped survivors — specifically the ones every camera-based system is guaranteed to miss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800" b="0" i="0">
                <a:solidFill>
                  <a:srgbClr val="1B2A3A"/>
                </a:solidFill>
                <a:latin typeface="Calibri"/>
              </a:rPr>
              <a:t>First responders — arrive with a ranked map of where people probably are, with false alarms already filtered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800" b="0" i="0">
                <a:solidFill>
                  <a:srgbClr val="1B2A3A"/>
                </a:solidFill>
                <a:latin typeface="Calibri"/>
              </a:rPr>
              <a:t>Disaster authorities — a capability needing no network, no GPS base station, no central computer</a:t>
            </a:r>
          </a:p>
          <a:p>
            <a:pPr>
              <a:spcAft>
                <a:spcPts val="1000"/>
              </a:spcAft>
            </a:pPr>
            <a:r>
              <a:rPr sz="2200" b="1" i="0">
                <a:solidFill>
                  <a:srgbClr val="2E3192"/>
                </a:solidFill>
                <a:latin typeface="Calibri"/>
              </a:rPr>
              <a:t>Real-world scenarios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D98829"/>
                </a:solidFill>
                <a:latin typeface="Calibri"/>
              </a:rPr>
              <a:t>▪   </a:t>
            </a:r>
            <a:r>
              <a:rPr sz="1800" b="0" i="0">
                <a:solidFill>
                  <a:srgbClr val="1B2A3A"/>
                </a:solidFill>
                <a:latin typeface="Calibri"/>
              </a:rPr>
              <a:t>Earthquake and building collapse — locates phones inside voids no camera can see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D98829"/>
                </a:solidFill>
                <a:latin typeface="Calibri"/>
              </a:rPr>
              <a:t>▪   </a:t>
            </a:r>
            <a:r>
              <a:rPr sz="1800" b="0" i="0">
                <a:solidFill>
                  <a:srgbClr val="1B2A3A"/>
                </a:solidFill>
                <a:latin typeface="Calibri"/>
              </a:rPr>
              <a:t>Landslide and flood rescue — works with no cellular network at all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D98829"/>
                </a:solidFill>
                <a:latin typeface="Calibri"/>
              </a:rPr>
              <a:t>▪   </a:t>
            </a:r>
            <a:r>
              <a:rPr sz="1800" b="0" i="0">
                <a:solidFill>
                  <a:srgbClr val="1B2A3A"/>
                </a:solidFill>
                <a:latin typeface="Calibri"/>
              </a:rPr>
              <a:t>Missing person in open terrain — climbs to an emitting device across featureless area</a:t>
            </a:r>
          </a:p>
          <a:p>
            <a:pPr>
              <a:spcAft>
                <a:spcPts val="0"/>
              </a:spcAft>
            </a:pPr>
            <a:r>
              <a:rPr sz="1800" b="1">
                <a:solidFill>
                  <a:srgbClr val="D98829"/>
                </a:solidFill>
                <a:latin typeface="Calibri"/>
              </a:rPr>
              <a:t>▪   </a:t>
            </a:r>
            <a:r>
              <a:rPr sz="1800" b="0" i="0">
                <a:solidFill>
                  <a:srgbClr val="1B2A3A"/>
                </a:solidFill>
                <a:latin typeface="Calibri"/>
              </a:rPr>
              <a:t>Comms blackout — drones reposition as relays, becoming temporary disaster infrastructure (SDG 9)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8000000" y="3350000"/>
            <a:ext cx="9400000" cy="1970000"/>
          </a:xfrm>
          <a:prstGeom prst="roundRect">
            <a:avLst>
              <a:gd name="adj" fmla="val 8000"/>
            </a:avLst>
          </a:prstGeom>
          <a:solidFill>
            <a:srgbClr val="E4F3F5"/>
          </a:solidFill>
          <a:ln w="19050">
            <a:solidFill>
              <a:srgbClr val="0E8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140000"/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0E8FA0"/>
                </a:solidFill>
                <a:latin typeface="Calibri"/>
              </a:rPr>
              <a:t>$3</a:t>
            </a:r>
            <a:r>
              <a:rPr sz="1900" b="1">
                <a:solidFill>
                  <a:srgbClr val="1B2A3A"/>
                </a:solidFill>
                <a:latin typeface="Calibri"/>
              </a:rPr>
              <a:t>   the decision-maker</a:t>
            </a:r>
          </a:p>
          <a:p>
            <a:pPr algn="l"/>
            <a:r>
              <a:rPr sz="1500">
                <a:solidFill>
                  <a:srgbClr val="5A6B7C"/>
                </a:solidFill>
                <a:latin typeface="Calibri"/>
              </a:rPr>
              <a:t>A centralized equivalent needs a ground station computing O(N) trajectories. KHOJ is O(1) per drone, in parallel.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8000000" y="5510000"/>
            <a:ext cx="9400000" cy="1970000"/>
          </a:xfrm>
          <a:prstGeom prst="roundRect">
            <a:avLst>
              <a:gd name="adj" fmla="val 8000"/>
            </a:avLst>
          </a:prstGeom>
          <a:solidFill>
            <a:srgbClr val="E4F1EA"/>
          </a:solidFill>
          <a:ln w="1905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140000"/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2E7D5B"/>
                </a:solidFill>
                <a:latin typeface="Calibri"/>
              </a:rPr>
              <a:t>Zero</a:t>
            </a:r>
            <a:r>
              <a:rPr sz="1900" b="1">
                <a:solidFill>
                  <a:srgbClr val="1B2A3A"/>
                </a:solidFill>
                <a:latin typeface="Calibri"/>
              </a:rPr>
              <a:t>   infrastructure required</a:t>
            </a:r>
          </a:p>
          <a:p>
            <a:pPr algn="l"/>
            <a:r>
              <a:rPr sz="1500">
                <a:solidFill>
                  <a:srgbClr val="5A6B7C"/>
                </a:solidFill>
                <a:latin typeface="Calibri"/>
              </a:rPr>
              <a:t>No RTK-GPS, no uplink, no internet. It runs in the conditions disasters actually create.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8000000" y="7670000"/>
            <a:ext cx="9400000" cy="1970000"/>
          </a:xfrm>
          <a:prstGeom prst="roundRect">
            <a:avLst>
              <a:gd name="adj" fmla="val 8000"/>
            </a:avLst>
          </a:prstGeom>
          <a:solidFill>
            <a:srgbClr val="ECEEF7"/>
          </a:solidFill>
          <a:ln w="19050">
            <a:solidFill>
              <a:srgbClr val="2E31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140000"/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2E3192"/>
                </a:solidFill>
                <a:latin typeface="Calibri"/>
              </a:rPr>
              <a:t>Graceful</a:t>
            </a:r>
            <a:r>
              <a:rPr sz="1900" b="1">
                <a:solidFill>
                  <a:srgbClr val="1B2A3A"/>
                </a:solidFill>
                <a:latin typeface="Calibri"/>
              </a:rPr>
              <a:t>   degradation, not failure</a:t>
            </a:r>
          </a:p>
          <a:p>
            <a:pPr algn="l"/>
            <a:r>
              <a:rPr sz="1500">
                <a:solidFill>
                  <a:srgbClr val="5A6B7C"/>
                </a:solidFill>
                <a:latin typeface="Calibri"/>
              </a:rPr>
              <a:t>Any drone can die at any moment and the mission continues. Adding a drone means flashing one more board.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7"/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182" name="Google Shape;182;p7"/>
            <p:cNvSpPr/>
            <p:nvPr/>
          </p:nvSpPr>
          <p:spPr>
            <a:xfrm>
              <a:off x="11416130" y="0"/>
              <a:ext cx="2312492" cy="2312492"/>
            </a:xfrm>
            <a:custGeom>
              <a:rect b="b" l="l" r="r" t="t"/>
              <a:pathLst>
                <a:path extrusionOk="0" h="2312492" w="2312492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3" name="Google Shape;183;p7"/>
            <p:cNvSpPr/>
            <p:nvPr/>
          </p:nvSpPr>
          <p:spPr>
            <a:xfrm>
              <a:off x="9371173" y="547849"/>
              <a:ext cx="1754643" cy="1414221"/>
            </a:xfrm>
            <a:custGeom>
              <a:rect b="b" l="l" r="r" t="t"/>
              <a:pathLst>
                <a:path extrusionOk="0" h="1414221" w="1754643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4" name="Google Shape;184;p7"/>
            <p:cNvSpPr/>
            <p:nvPr/>
          </p:nvSpPr>
          <p:spPr>
            <a:xfrm>
              <a:off x="0" y="604703"/>
              <a:ext cx="3006153" cy="1300514"/>
            </a:xfrm>
            <a:custGeom>
              <a:rect b="b" l="l" r="r" t="t"/>
              <a:pathLst>
                <a:path extrusionOk="0" h="1300514" w="3006153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5" name="Google Shape;185;p7"/>
            <p:cNvSpPr/>
            <p:nvPr/>
          </p:nvSpPr>
          <p:spPr>
            <a:xfrm>
              <a:off x="3823451" y="643512"/>
              <a:ext cx="4906265" cy="1318559"/>
            </a:xfrm>
            <a:custGeom>
              <a:rect b="b" l="l" r="r" t="t"/>
              <a:pathLst>
                <a:path extrusionOk="0" h="1318559" w="4906265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86" name="Google Shape;186;p7"/>
          <p:cNvSpPr/>
          <p:nvPr/>
        </p:nvSpPr>
        <p:spPr>
          <a:xfrm>
            <a:off x="-32901" y="1051100"/>
            <a:ext cx="18323704" cy="8777017"/>
          </a:xfrm>
          <a:custGeom>
            <a:rect b="b" l="l" r="r" t="t"/>
            <a:pathLst>
              <a:path extrusionOk="0" h="8777017" w="18323704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b="-40752" l="-2658" r="0" t="0"/>
            </a:stretch>
          </a:blipFill>
          <a:ln>
            <a:noFill/>
          </a:ln>
        </p:spPr>
      </p:sp>
      <p:sp>
        <p:nvSpPr>
          <p:cNvPr id="187" name="Google Shape;187;p7"/>
          <p:cNvSpPr/>
          <p:nvPr/>
        </p:nvSpPr>
        <p:spPr>
          <a:xfrm>
            <a:off x="3511563" y="9826112"/>
            <a:ext cx="11344944" cy="460888"/>
          </a:xfrm>
          <a:custGeom>
            <a:rect b="b" l="l" r="r" t="t"/>
            <a:pathLst>
              <a:path extrusionOk="0" h="460888" w="11344944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7"/>
          <p:cNvSpPr txBox="1"/>
          <p:nvPr/>
        </p:nvSpPr>
        <p:spPr>
          <a:xfrm>
            <a:off x="4165933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888415" y="221641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CHALLENGES FACED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886241" y="3350000"/>
            <a:ext cx="7900000" cy="5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300" b="1" i="0">
                <a:solidFill>
                  <a:srgbClr val="B8433A"/>
                </a:solidFill>
                <a:latin typeface="Calibri"/>
              </a:rPr>
              <a:t>1.  The radio could not measure signal strength</a:t>
            </a:r>
          </a:p>
          <a:p>
            <a:pPr>
              <a:spcAft>
                <a:spcPts val="600"/>
              </a:spcAft>
            </a:pPr>
            <a:r>
              <a:rPr sz="1750" b="0" i="0">
                <a:solidFill>
                  <a:srgbClr val="1B2A3A"/>
                </a:solidFill>
                <a:latin typeface="Calibri"/>
              </a:rPr>
              <a:t>The entire RF concept needs each drone reading a peer’s signal strength. The standard toolchain ships a core whose receive callback returns sender and payload — but no signal strength at all. A dedicated sniffer board could not fix it: the gradient needs each drone sampling at its own position.</a:t>
            </a:r>
          </a:p>
          <a:p>
            <a:pPr>
              <a:spcAft>
                <a:spcPts val="1600"/>
              </a:spcAft>
            </a:pPr>
            <a:r>
              <a:rPr sz="1750" b="1" i="0">
                <a:solidFill>
                  <a:srgbClr val="2E7D5B"/>
                </a:solidFill>
                <a:latin typeface="Calibri"/>
              </a:rPr>
              <a:t>Solved — migrated to a newer Arduino-ESP32 core, pinned it in the build, and made the firmware print rx_rssi=YES/NO at boot so it can never regress silently. Caught in hour 1, not hour 30.</a:t>
            </a:r>
          </a:p>
          <a:p>
            <a:pPr>
              <a:spcAft>
                <a:spcPts val="600"/>
              </a:spcAft>
            </a:pPr>
            <a:r>
              <a:rPr sz="2300" b="1" i="0">
                <a:solidFill>
                  <a:srgbClr val="B8433A"/>
                </a:solidFill>
                <a:latin typeface="Calibri"/>
              </a:rPr>
              <a:t>2.  Five boards, a working radio, and total silence</a:t>
            </a:r>
          </a:p>
          <a:p>
            <a:pPr>
              <a:spcAft>
                <a:spcPts val="600"/>
              </a:spcAft>
            </a:pPr>
            <a:r>
              <a:rPr sz="1750" b="0" i="0">
                <a:solidFill>
                  <a:srgbClr val="1B2A3A"/>
                </a:solidFill>
                <a:latin typeface="Calibri"/>
              </a:rPr>
              <a:t>Every board transmitted and none received. Two compounding bugs: the WiFi driver returned an all-zero MAC when read too early, and our identity scheme derived board IDs from that MAC — so every board took the same ID and discarded the others’ packets as its own echo.</a:t>
            </a:r>
          </a:p>
          <a:p>
            <a:pPr>
              <a:spcAft>
                <a:spcPts val="0"/>
              </a:spcAft>
            </a:pPr>
            <a:r>
              <a:rPr sz="1750" b="1" i="0">
                <a:solidFill>
                  <a:srgbClr val="2E7D5B"/>
                </a:solidFill>
                <a:latin typeface="Calibri"/>
              </a:rPr>
              <a:t>Solved — read the MAC from eFuse instead of the driver, and deleted the self-filter entirely, since a broadcast is never echoed to its sender.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300000" y="3350000"/>
            <a:ext cx="8100000" cy="5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300" b="1" i="0">
                <a:solidFill>
                  <a:srgbClr val="B8433A"/>
                </a:solidFill>
                <a:latin typeface="Calibri"/>
              </a:rPr>
              <a:t>3.  Silent flashing failures</a:t>
            </a:r>
          </a:p>
          <a:p>
            <a:pPr>
              <a:spcAft>
                <a:spcPts val="600"/>
              </a:spcAft>
            </a:pPr>
            <a:r>
              <a:rPr sz="1750" b="0" i="0">
                <a:solidFill>
                  <a:srgbClr val="1B2A3A"/>
                </a:solidFill>
                <a:latin typeface="Calibri"/>
              </a:rPr>
              <a:t>With five identical boards, flashing by hand meant believing all five were updated when only three were — discovered only through a confusing peer list.</a:t>
            </a:r>
          </a:p>
          <a:p>
            <a:pPr>
              <a:spcAft>
                <a:spcPts val="1600"/>
              </a:spcAft>
            </a:pPr>
            <a:r>
              <a:rPr sz="1750" b="1" i="0">
                <a:solidFill>
                  <a:srgbClr val="2E7D5B"/>
                </a:solidFill>
                <a:latin typeface="Calibri"/>
              </a:rPr>
              <a:t>Solved — an automated flash script that finds every connected board and prints a pass/fail table, so a missed board is impossible to overlook.</a:t>
            </a:r>
          </a:p>
          <a:p>
            <a:pPr>
              <a:spcAft>
                <a:spcPts val="600"/>
              </a:spcAft>
            </a:pPr>
            <a:r>
              <a:rPr sz="2300" b="1" i="0">
                <a:solidFill>
                  <a:srgbClr val="D98829"/>
                </a:solidFill>
                <a:latin typeface="Calibri"/>
              </a:rPr>
              <a:t>4.  A result we chose not to hide</a:t>
            </a:r>
          </a:p>
          <a:p>
            <a:pPr>
              <a:spcAft>
                <a:spcPts val="600"/>
              </a:spcAft>
            </a:pPr>
            <a:r>
              <a:rPr sz="1750" b="0" i="0">
                <a:solidFill>
                  <a:srgbClr val="1B2A3A"/>
                </a:solidFill>
                <a:latin typeface="Calibri"/>
              </a:rPr>
              <a:t>Our system finds more survivors than the baseline, but is not yet faster to the first one — the lawnmower sweep beelines while KHOJ self-organises. We could have quietly dropped the metric.</a:t>
            </a:r>
          </a:p>
          <a:p>
            <a:pPr>
              <a:spcAft>
                <a:spcPts val="0"/>
              </a:spcAft>
            </a:pPr>
            <a:r>
              <a:rPr sz="1750" b="1" i="0">
                <a:solidFill>
                  <a:srgbClr val="2E7D5B"/>
                </a:solidFill>
                <a:latin typeface="Calibri"/>
              </a:rPr>
              <a:t>Instead we report it, and we know the fix: seeding the belief map with a prior. We would rather present a real limitation than a chart a judge can take apart.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8"/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197" name="Google Shape;197;p8"/>
            <p:cNvSpPr/>
            <p:nvPr/>
          </p:nvSpPr>
          <p:spPr>
            <a:xfrm>
              <a:off x="11416130" y="0"/>
              <a:ext cx="2312492" cy="2312492"/>
            </a:xfrm>
            <a:custGeom>
              <a:rect b="b" l="l" r="r" t="t"/>
              <a:pathLst>
                <a:path extrusionOk="0" h="2312492" w="2312492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8" name="Google Shape;198;p8"/>
            <p:cNvSpPr/>
            <p:nvPr/>
          </p:nvSpPr>
          <p:spPr>
            <a:xfrm>
              <a:off x="9371173" y="547849"/>
              <a:ext cx="1754643" cy="1414221"/>
            </a:xfrm>
            <a:custGeom>
              <a:rect b="b" l="l" r="r" t="t"/>
              <a:pathLst>
                <a:path extrusionOk="0" h="1414221" w="1754643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9" name="Google Shape;199;p8"/>
            <p:cNvSpPr/>
            <p:nvPr/>
          </p:nvSpPr>
          <p:spPr>
            <a:xfrm>
              <a:off x="0" y="604703"/>
              <a:ext cx="3006153" cy="1300514"/>
            </a:xfrm>
            <a:custGeom>
              <a:rect b="b" l="l" r="r" t="t"/>
              <a:pathLst>
                <a:path extrusionOk="0" h="1300514" w="3006153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0" name="Google Shape;200;p8"/>
            <p:cNvSpPr/>
            <p:nvPr/>
          </p:nvSpPr>
          <p:spPr>
            <a:xfrm>
              <a:off x="3823451" y="643512"/>
              <a:ext cx="4906265" cy="1318559"/>
            </a:xfrm>
            <a:custGeom>
              <a:rect b="b" l="l" r="r" t="t"/>
              <a:pathLst>
                <a:path extrusionOk="0" h="1318559" w="4906265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01" name="Google Shape;201;p8"/>
          <p:cNvSpPr/>
          <p:nvPr/>
        </p:nvSpPr>
        <p:spPr>
          <a:xfrm>
            <a:off x="-32901" y="1051100"/>
            <a:ext cx="18323704" cy="8777017"/>
          </a:xfrm>
          <a:custGeom>
            <a:rect b="b" l="l" r="r" t="t"/>
            <a:pathLst>
              <a:path extrusionOk="0" h="8777017" w="18323704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b="-40752" l="-2658" r="0" t="0"/>
            </a:stretch>
          </a:blipFill>
          <a:ln>
            <a:noFill/>
          </a:ln>
        </p:spPr>
      </p:sp>
      <p:sp>
        <p:nvSpPr>
          <p:cNvPr id="202" name="Google Shape;202;p8"/>
          <p:cNvSpPr/>
          <p:nvPr/>
        </p:nvSpPr>
        <p:spPr>
          <a:xfrm>
            <a:off x="3511563" y="9826112"/>
            <a:ext cx="11344944" cy="460888"/>
          </a:xfrm>
          <a:custGeom>
            <a:rect b="b" l="l" r="r" t="t"/>
            <a:pathLst>
              <a:path extrusionOk="0" h="460888" w="11344944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8"/>
          <p:cNvSpPr txBox="1"/>
          <p:nvPr/>
        </p:nvSpPr>
        <p:spPr>
          <a:xfrm>
            <a:off x="4165933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888415" y="221641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886241" y="3350000"/>
            <a:ext cx="6900000" cy="5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 i="0">
                <a:solidFill>
                  <a:srgbClr val="0E8FA0"/>
                </a:solidFill>
                <a:latin typeface="Calibri"/>
              </a:rPr>
              <a:t>Near-term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Port the auction fully on-device so decisions never touch a laptop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Belief-map priors — closes the time-to-first-survivor gap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RELAY task type — drones bidding to become comms relays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Rescue-route generation so responders can reach the survivor, not just locate them</a:t>
            </a:r>
          </a:p>
          <a:p>
            <a:pPr>
              <a:spcAft>
                <a:spcPts val="1000"/>
              </a:spcAft>
            </a:pPr>
            <a:r>
              <a:rPr sz="2200" b="1" i="0">
                <a:solidFill>
                  <a:srgbClr val="D98829"/>
                </a:solidFill>
                <a:latin typeface="Calibri"/>
              </a:rPr>
              <a:t>Medium-term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D98829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Full F450 fleet with onboard compute and real GPS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D98829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Real phone detection via dedicated sniffers instead of a planted beacon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D98829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Multi-hop routing to extend coverage beyond single-radio range</a:t>
            </a:r>
          </a:p>
          <a:p>
            <a:pPr>
              <a:spcAft>
                <a:spcPts val="0"/>
              </a:spcAft>
            </a:pPr>
            <a:r>
              <a:rPr sz="1700" b="1">
                <a:solidFill>
                  <a:srgbClr val="D98829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Hash-chained evidence log — tamper-evident record of what was found, when, and by which drone (SDG 16)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000000" y="3950000"/>
            <a:ext cx="9400000" cy="4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200" b="1" i="0">
                <a:solidFill>
                  <a:srgbClr val="2E3192"/>
                </a:solidFill>
                <a:latin typeface="Calibri"/>
              </a:rPr>
              <a:t>LONG-TERM VISION</a:t>
            </a:r>
          </a:p>
          <a:p>
            <a:pPr>
              <a:spcAft>
                <a:spcPts val="1600"/>
              </a:spcAft>
            </a:pPr>
            <a:r>
              <a:rPr sz="2800" b="1" i="0">
                <a:solidFill>
                  <a:srgbClr val="0E8FA0"/>
                </a:solidFill>
                <a:latin typeface="Calibri"/>
              </a:rPr>
              <a:t>A disposable, infrastructure-free rescue layer.</a:t>
            </a:r>
          </a:p>
          <a:p>
            <a:pPr>
              <a:spcAft>
                <a:spcPts val="1600"/>
              </a:spcAft>
            </a:pPr>
            <a:r>
              <a:rPr sz="1900" b="0" i="0">
                <a:solidFill>
                  <a:srgbClr val="1B2A3A"/>
                </a:solidFill>
                <a:latin typeface="Calibri"/>
              </a:rPr>
              <a:t>A crate of low-cost drones that any municipal fire service can carry to a collapse site, throw into the air, and have self-organise into a search team within seconds — no operator assigning targets, no ground station, no network.</a:t>
            </a:r>
          </a:p>
          <a:p>
            <a:pPr>
              <a:spcAft>
                <a:spcPts val="0"/>
              </a:spcAft>
            </a:pPr>
            <a:r>
              <a:rPr sz="2100" b="1" i="1">
                <a:solidFill>
                  <a:srgbClr val="2E3192"/>
                </a:solidFill>
                <a:latin typeface="Calibri"/>
              </a:rPr>
              <a:t>The intelligence lives in the fleet, not in a building that may itself have fallen down.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9"/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212" name="Google Shape;212;p9"/>
            <p:cNvSpPr/>
            <p:nvPr/>
          </p:nvSpPr>
          <p:spPr>
            <a:xfrm>
              <a:off x="11416130" y="0"/>
              <a:ext cx="2312492" cy="2312492"/>
            </a:xfrm>
            <a:custGeom>
              <a:rect b="b" l="l" r="r" t="t"/>
              <a:pathLst>
                <a:path extrusionOk="0" h="2312492" w="2312492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3" name="Google Shape;213;p9"/>
            <p:cNvSpPr/>
            <p:nvPr/>
          </p:nvSpPr>
          <p:spPr>
            <a:xfrm>
              <a:off x="9371173" y="547849"/>
              <a:ext cx="1754643" cy="1414221"/>
            </a:xfrm>
            <a:custGeom>
              <a:rect b="b" l="l" r="r" t="t"/>
              <a:pathLst>
                <a:path extrusionOk="0" h="1414221" w="1754643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4" name="Google Shape;214;p9"/>
            <p:cNvSpPr/>
            <p:nvPr/>
          </p:nvSpPr>
          <p:spPr>
            <a:xfrm>
              <a:off x="0" y="604703"/>
              <a:ext cx="3006153" cy="1300514"/>
            </a:xfrm>
            <a:custGeom>
              <a:rect b="b" l="l" r="r" t="t"/>
              <a:pathLst>
                <a:path extrusionOk="0" h="1300514" w="3006153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5" name="Google Shape;215;p9"/>
            <p:cNvSpPr/>
            <p:nvPr/>
          </p:nvSpPr>
          <p:spPr>
            <a:xfrm>
              <a:off x="3823451" y="643512"/>
              <a:ext cx="4906265" cy="1318559"/>
            </a:xfrm>
            <a:custGeom>
              <a:rect b="b" l="l" r="r" t="t"/>
              <a:pathLst>
                <a:path extrusionOk="0" h="1318559" w="4906265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16" name="Google Shape;216;p9"/>
          <p:cNvSpPr/>
          <p:nvPr/>
        </p:nvSpPr>
        <p:spPr>
          <a:xfrm>
            <a:off x="-32901" y="1051100"/>
            <a:ext cx="18323704" cy="8777017"/>
          </a:xfrm>
          <a:custGeom>
            <a:rect b="b" l="l" r="r" t="t"/>
            <a:pathLst>
              <a:path extrusionOk="0" h="8777017" w="18323704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b="-40752" l="-2658" r="0" t="0"/>
            </a:stretch>
          </a:blipFill>
          <a:ln>
            <a:noFill/>
          </a:ln>
        </p:spPr>
      </p:sp>
      <p:sp>
        <p:nvSpPr>
          <p:cNvPr id="217" name="Google Shape;217;p9"/>
          <p:cNvSpPr/>
          <p:nvPr/>
        </p:nvSpPr>
        <p:spPr>
          <a:xfrm>
            <a:off x="3511563" y="9826112"/>
            <a:ext cx="11344944" cy="460888"/>
          </a:xfrm>
          <a:custGeom>
            <a:rect b="b" l="l" r="r" t="t"/>
            <a:pathLst>
              <a:path extrusionOk="0" h="460888" w="11344944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9"/>
          <p:cNvSpPr txBox="1"/>
          <p:nvPr/>
        </p:nvSpPr>
        <p:spPr>
          <a:xfrm>
            <a:off x="4165933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888415" y="221641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4165933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TextBox 222"/>
          <p:cNvSpPr txBox="1"/>
          <p:nvPr/>
        </p:nvSpPr>
        <p:spPr>
          <a:xfrm>
            <a:off x="886241" y="3350000"/>
            <a:ext cx="6900000" cy="5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 i="0">
                <a:solidFill>
                  <a:srgbClr val="2E3192"/>
                </a:solidFill>
                <a:latin typeface="Calibri"/>
              </a:rPr>
              <a:t>What we built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800" b="0" i="0">
                <a:solidFill>
                  <a:srgbClr val="1B2A3A"/>
                </a:solidFill>
                <a:latin typeface="Calibri"/>
              </a:rPr>
              <a:t>A five-board decentralized mesh with 0.0% measured packet loss and sub-2-second failure detection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800" b="0" i="0">
                <a:solidFill>
                  <a:srgbClr val="1B2A3A"/>
                </a:solidFill>
                <a:latin typeface="Calibri"/>
              </a:rPr>
              <a:t>A unified auction where routine search, uncertain-sighting re-checks and invisible-victim localization are the same decision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800" b="0" i="0">
                <a:solidFill>
                  <a:srgbClr val="1B2A3A"/>
                </a:solidFill>
                <a:latin typeface="Calibri"/>
              </a:rPr>
              <a:t>A complete simulation that beats a camera-only baseline on survivors found — and finds the RF-only victim every single run, which the baseline can never do</a:t>
            </a:r>
          </a:p>
          <a:p>
            <a:pPr>
              <a:spcAft>
                <a:spcPts val="1000"/>
              </a:spcAft>
            </a:pPr>
            <a:r>
              <a:rPr sz="2200" b="1" i="0">
                <a:solidFill>
                  <a:srgbClr val="2E3192"/>
                </a:solidFill>
                <a:latin typeface="Calibri"/>
              </a:rPr>
              <a:t>Why it matters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B2A3A"/>
                </a:solidFill>
                <a:latin typeface="Calibri"/>
              </a:rPr>
              <a:t>Every drone swarm you have seen is centrally controlled — a ground station computing every trajectory, needing GPS and a live uplink. That architecture is excellent for a light show and useless in a collapsed building.</a:t>
            </a:r>
          </a:p>
          <a:p>
            <a:pPr>
              <a:spcAft>
                <a:spcPts val="0"/>
              </a:spcAft>
            </a:pPr>
            <a:r>
              <a:rPr sz="1900" b="1" i="0">
                <a:solidFill>
                  <a:srgbClr val="2E3192"/>
                </a:solidFill>
                <a:latin typeface="Calibri"/>
              </a:rPr>
              <a:t>KHOJ is built for the conditions disasters actually create: no network, no infrastructure, and no guarantee that every drone survives the hour.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000000" y="4050000"/>
            <a:ext cx="9400000" cy="4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200" b="1" i="0">
                <a:solidFill>
                  <a:srgbClr val="2E3192"/>
                </a:solidFill>
                <a:latin typeface="Calibri"/>
              </a:rPr>
              <a:t>THE NOVELTY</a:t>
            </a:r>
          </a:p>
          <a:p>
            <a:pPr>
              <a:spcAft>
                <a:spcPts val="1800"/>
              </a:spcAft>
            </a:pPr>
            <a:r>
              <a:rPr sz="3000" b="1" i="0">
                <a:solidFill>
                  <a:srgbClr val="0E8FA0"/>
                </a:solidFill>
                <a:latin typeface="Calibri"/>
              </a:rPr>
              <a:t>The swarm bids in information gain, not area.</a:t>
            </a:r>
          </a:p>
          <a:p>
            <a:pPr>
              <a:spcAft>
                <a:spcPts val="2400"/>
              </a:spcAft>
            </a:pPr>
            <a:r>
              <a:rPr sz="1900" b="0" i="0">
                <a:solidFill>
                  <a:srgbClr val="1B2A3A"/>
                </a:solidFill>
                <a:latin typeface="Calibri"/>
              </a:rPr>
              <a:t>Cooperative RF localization is the proof of it: several drones share what each one alone cannot interpret, and together point at a person nobody can see.</a:t>
            </a:r>
          </a:p>
          <a:p>
            <a:pPr>
              <a:spcAft>
                <a:spcPts val="0"/>
              </a:spcAft>
            </a:pPr>
            <a:r>
              <a:rPr sz="2600" b="1" i="1">
                <a:solidFill>
                  <a:srgbClr val="2E3192"/>
                </a:solidFill>
                <a:latin typeface="Calibri"/>
              </a:rPr>
              <a:t>“Other swarms search together.
KHOJ finds the invisible.”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10"/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228" name="Google Shape;228;p10"/>
            <p:cNvSpPr/>
            <p:nvPr/>
          </p:nvSpPr>
          <p:spPr>
            <a:xfrm>
              <a:off x="11416130" y="0"/>
              <a:ext cx="2312492" cy="2312492"/>
            </a:xfrm>
            <a:custGeom>
              <a:rect b="b" l="l" r="r" t="t"/>
              <a:pathLst>
                <a:path extrusionOk="0" h="2312492" w="2312492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9" name="Google Shape;229;p10"/>
            <p:cNvSpPr/>
            <p:nvPr/>
          </p:nvSpPr>
          <p:spPr>
            <a:xfrm>
              <a:off x="9371173" y="547849"/>
              <a:ext cx="1754643" cy="1414221"/>
            </a:xfrm>
            <a:custGeom>
              <a:rect b="b" l="l" r="r" t="t"/>
              <a:pathLst>
                <a:path extrusionOk="0" h="1414221" w="1754643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0" name="Google Shape;230;p10"/>
            <p:cNvSpPr/>
            <p:nvPr/>
          </p:nvSpPr>
          <p:spPr>
            <a:xfrm>
              <a:off x="0" y="604703"/>
              <a:ext cx="3006153" cy="1300514"/>
            </a:xfrm>
            <a:custGeom>
              <a:rect b="b" l="l" r="r" t="t"/>
              <a:pathLst>
                <a:path extrusionOk="0" h="1300514" w="3006153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1" name="Google Shape;231;p10"/>
            <p:cNvSpPr/>
            <p:nvPr/>
          </p:nvSpPr>
          <p:spPr>
            <a:xfrm>
              <a:off x="3823451" y="643512"/>
              <a:ext cx="4906265" cy="1318559"/>
            </a:xfrm>
            <a:custGeom>
              <a:rect b="b" l="l" r="r" t="t"/>
              <a:pathLst>
                <a:path extrusionOk="0" h="1318559" w="4906265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32" name="Google Shape;232;p10"/>
          <p:cNvSpPr/>
          <p:nvPr/>
        </p:nvSpPr>
        <p:spPr>
          <a:xfrm>
            <a:off x="-32901" y="1051100"/>
            <a:ext cx="18323704" cy="8777017"/>
          </a:xfrm>
          <a:custGeom>
            <a:rect b="b" l="l" r="r" t="t"/>
            <a:pathLst>
              <a:path extrusionOk="0" h="8777017" w="18323704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b="-40752" l="-2658" r="0" t="0"/>
            </a:stretch>
          </a:blipFill>
          <a:ln>
            <a:noFill/>
          </a:ln>
        </p:spPr>
      </p:sp>
      <p:sp>
        <p:nvSpPr>
          <p:cNvPr id="233" name="Google Shape;233;p10"/>
          <p:cNvSpPr/>
          <p:nvPr/>
        </p:nvSpPr>
        <p:spPr>
          <a:xfrm>
            <a:off x="3511563" y="9826112"/>
            <a:ext cx="11344944" cy="460888"/>
          </a:xfrm>
          <a:custGeom>
            <a:rect b="b" l="l" r="r" t="t"/>
            <a:pathLst>
              <a:path extrusionOk="0" h="460888" w="11344944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0"/>
          <p:cNvSpPr txBox="1"/>
          <p:nvPr/>
        </p:nvSpPr>
        <p:spPr>
          <a:xfrm>
            <a:off x="4165933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888415" y="221641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ACKNOWLEDGEMENTS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886241" y="3350000"/>
            <a:ext cx="7900000" cy="5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 i="0">
                <a:solidFill>
                  <a:srgbClr val="2E3192"/>
                </a:solidFill>
                <a:latin typeface="Calibri"/>
              </a:rPr>
              <a:t>Team  [TEAM NAME]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[MEMBER 1 — REG NO.]  —  Decentralized stack: ESP-NOW mesh, on-device auction, RF localization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[MEMBER 2 — REG NO.]  —  [ROLE]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[MEMBER 3 — REG NO.]  —  [ROLE]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[MEMBER 4 — REG NO.]  —  [ROLE]</a:t>
            </a:r>
          </a:p>
          <a:p>
            <a:pPr>
              <a:spcAft>
                <a:spcPts val="1000"/>
              </a:spcAft>
            </a:pPr>
            <a:r>
              <a:rPr sz="2200" b="1" i="0">
                <a:solidFill>
                  <a:srgbClr val="2E3192"/>
                </a:solidFill>
                <a:latin typeface="Calibri"/>
              </a:rPr>
              <a:t>Mentors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700" b="0" i="0">
                <a:solidFill>
                  <a:srgbClr val="1B2A3A"/>
                </a:solidFill>
                <a:latin typeface="Calibri"/>
              </a:rPr>
              <a:t>[MENTOR NAME(S) AND DEPARTMENT]</a:t>
            </a:r>
          </a:p>
          <a:p>
            <a:pPr>
              <a:spcAft>
                <a:spcPts val="1000"/>
              </a:spcAft>
            </a:pPr>
            <a:r>
              <a:rPr sz="2200" b="1" i="0">
                <a:solidFill>
                  <a:srgbClr val="2E3192"/>
                </a:solidFill>
                <a:latin typeface="Calibri"/>
              </a:rPr>
              <a:t>Tools</a:t>
            </a:r>
          </a:p>
          <a:p>
            <a:pPr>
              <a:spcAft>
                <a:spcPts val="0"/>
              </a:spcAft>
            </a:pPr>
            <a:r>
              <a:rPr sz="1700" b="0" i="0">
                <a:solidFill>
                  <a:srgbClr val="1B2A3A"/>
                </a:solidFill>
                <a:latin typeface="Calibri"/>
              </a:rPr>
              <a:t>PlatformIO · Arduino-ESP32 · Python 3 · MAVSDK-Python · YOLO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9300000" y="3350000"/>
            <a:ext cx="8100000" cy="5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 i="0">
                <a:solidFill>
                  <a:srgbClr val="2E3192"/>
                </a:solidFill>
                <a:latin typeface="Calibri"/>
              </a:rPr>
              <a:t>References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600" b="0" i="0">
                <a:solidFill>
                  <a:srgbClr val="1B2A3A"/>
                </a:solidFill>
                <a:latin typeface="Calibri"/>
              </a:rPr>
              <a:t>Gerkey, B. &amp; Matarić, M. (2004). A Formal Analysis and Taxonomy of Task Allocation in Multi-Robot Systems. Int. Journal of Robotics Research.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600" b="0" i="0">
                <a:solidFill>
                  <a:srgbClr val="1B2A3A"/>
                </a:solidFill>
                <a:latin typeface="Calibri"/>
              </a:rPr>
              <a:t>Lagoudakis, M. et al. (2005). Auction-Based Multi-Robot Routing. Robotics: Science and Systems.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600" b="0" i="0">
                <a:solidFill>
                  <a:srgbClr val="1B2A3A"/>
                </a:solidFill>
                <a:latin typeface="Calibri"/>
              </a:rPr>
              <a:t>Espressif Systems. ESP-NOW Protocol Specification, ESP-IDF Programming Guide.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600" b="0" i="0">
                <a:solidFill>
                  <a:srgbClr val="1B2A3A"/>
                </a:solidFill>
                <a:latin typeface="Calibri"/>
              </a:rPr>
              <a:t>Stone, L. D. Theory of Optimal Search — Bayesian search theory, as applied in the recovery of USS Scorpion and Air France 447.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0E8FA0"/>
                </a:solidFill>
                <a:latin typeface="Calibri"/>
              </a:rPr>
              <a:t>▪   </a:t>
            </a:r>
            <a:r>
              <a:rPr sz="1600" b="0" i="0">
                <a:solidFill>
                  <a:srgbClr val="1B2A3A"/>
                </a:solidFill>
                <a:latin typeface="Calibri"/>
              </a:rPr>
              <a:t>PX4 Autopilot. Hardware-in-the-Loop Simulation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